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Barlow" panose="00000500000000000000" pitchFamily="2" charset="0"/>
      <p:regular r:id="rId14"/>
      <p:bold r:id="rId15"/>
      <p:italic r:id="rId16"/>
      <p:boldItalic r:id="rId17"/>
    </p:embeddedFont>
    <p:embeddedFont>
      <p:font typeface="Barlow Bold Italics" panose="020B0604020202020204" charset="0"/>
      <p:regular r:id="rId18"/>
    </p:embeddedFon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Consolas" panose="020B0609020204030204" pitchFamily="49" charset="0"/>
      <p:regular r:id="rId23"/>
      <p:bold r:id="rId24"/>
      <p:italic r:id="rId25"/>
      <p:boldItalic r:id="rId26"/>
    </p:embeddedFont>
    <p:embeddedFont>
      <p:font typeface="Telegraf" panose="020B0604020202020204" charset="0"/>
      <p:regular r:id="rId27"/>
    </p:embeddedFont>
    <p:embeddedFont>
      <p:font typeface="Telegraf Bold" panose="020B0604020202020204" charset="0"/>
      <p:regular r:id="rId28"/>
    </p:embeddedFont>
    <p:embeddedFont>
      <p:font typeface="Telegraf Medium" panose="020B0604020202020204" charset="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AYOUNI SOFYANE" initials="AS" lastIdx="1" clrIdx="0">
    <p:extLst>
      <p:ext uri="{19B8F6BF-5375-455C-9EA6-DF929625EA0E}">
        <p15:presenceInfo xmlns:p15="http://schemas.microsoft.com/office/powerpoint/2012/main" userId="AAYOUNI SOFYAN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22" autoAdjust="0"/>
  </p:normalViewPr>
  <p:slideViewPr>
    <p:cSldViewPr>
      <p:cViewPr varScale="1">
        <p:scale>
          <a:sx n="54" d="100"/>
          <a:sy n="54" d="100"/>
        </p:scale>
        <p:origin x="533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commentAuthors" Target="commentAuthors.xml"/><Relationship Id="rId8" Type="http://schemas.openxmlformats.org/officeDocument/2006/relationships/slide" Target="slides/slide7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6-09T20:26:30.328" idx="1">
    <p:pos x="10" y="10"/>
    <p:text/>
    <p:extLst>
      <p:ext uri="{C676402C-5697-4E1C-873F-D02D1690AC5C}">
        <p15:threadingInfo xmlns:p15="http://schemas.microsoft.com/office/powerpoint/2012/main" timeZoneBias="-6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7" Type="http://schemas.openxmlformats.org/officeDocument/2006/relationships/image" Target="../media/image23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7" Type="http://schemas.openxmlformats.org/officeDocument/2006/relationships/comments" Target="../comments/comment1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soufianeaayouni/pfe_InvestAqary_N1" TargetMode="External"/><Relationship Id="rId5" Type="http://schemas.openxmlformats.org/officeDocument/2006/relationships/image" Target="../media/image33.sv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AutoShape 3"/>
          <p:cNvSpPr/>
          <p:nvPr/>
        </p:nvSpPr>
        <p:spPr>
          <a:xfrm flipH="1">
            <a:off x="386037" y="7913888"/>
            <a:ext cx="0" cy="1803947"/>
          </a:xfrm>
          <a:prstGeom prst="line">
            <a:avLst/>
          </a:prstGeom>
          <a:ln w="857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6978022" y="530020"/>
            <a:ext cx="4162056" cy="997359"/>
          </a:xfrm>
          <a:custGeom>
            <a:avLst/>
            <a:gdLst/>
            <a:ahLst/>
            <a:cxnLst/>
            <a:rect l="l" t="t" r="r" b="b"/>
            <a:pathLst>
              <a:path w="4162056" h="997359">
                <a:moveTo>
                  <a:pt x="0" y="0"/>
                </a:moveTo>
                <a:lnTo>
                  <a:pt x="4162056" y="0"/>
                </a:lnTo>
                <a:lnTo>
                  <a:pt x="4162056" y="997360"/>
                </a:lnTo>
                <a:lnTo>
                  <a:pt x="0" y="9973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978478" y="0"/>
            <a:ext cx="3309522" cy="2283915"/>
          </a:xfrm>
          <a:custGeom>
            <a:avLst/>
            <a:gdLst/>
            <a:ahLst/>
            <a:cxnLst/>
            <a:rect l="l" t="t" r="r" b="b"/>
            <a:pathLst>
              <a:path w="3309522" h="2283915">
                <a:moveTo>
                  <a:pt x="0" y="0"/>
                </a:moveTo>
                <a:lnTo>
                  <a:pt x="3309522" y="0"/>
                </a:lnTo>
                <a:lnTo>
                  <a:pt x="3309522" y="2283915"/>
                </a:lnTo>
                <a:lnTo>
                  <a:pt x="0" y="22839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0"/>
            <a:ext cx="3832048" cy="1925604"/>
          </a:xfrm>
          <a:custGeom>
            <a:avLst/>
            <a:gdLst/>
            <a:ahLst/>
            <a:cxnLst/>
            <a:rect l="l" t="t" r="r" b="b"/>
            <a:pathLst>
              <a:path w="3832048" h="1925604">
                <a:moveTo>
                  <a:pt x="0" y="0"/>
                </a:moveTo>
                <a:lnTo>
                  <a:pt x="3832048" y="0"/>
                </a:lnTo>
                <a:lnTo>
                  <a:pt x="3832048" y="1925604"/>
                </a:lnTo>
                <a:lnTo>
                  <a:pt x="0" y="19256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476869" y="2293440"/>
            <a:ext cx="14365544" cy="31154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77"/>
              </a:lnSpc>
            </a:pPr>
            <a:r>
              <a:rPr lang="en-US" sz="6989" b="1" i="1" dirty="0" err="1">
                <a:solidFill>
                  <a:srgbClr val="FFFFFF"/>
                </a:solidFill>
                <a:latin typeface="Barlow Bold Italics"/>
                <a:ea typeface="Barlow Bold Italics"/>
                <a:cs typeface="Barlow Bold Italics"/>
                <a:sym typeface="Barlow Bold Italics"/>
              </a:rPr>
              <a:t>InvestAqary</a:t>
            </a:r>
            <a:r>
              <a:rPr lang="en-US" sz="6989" b="1" i="1" dirty="0">
                <a:solidFill>
                  <a:srgbClr val="FFFFFF"/>
                </a:solidFill>
                <a:latin typeface="Barlow Bold Italics"/>
                <a:ea typeface="Barlow Bold Italics"/>
                <a:cs typeface="Barlow Bold Italics"/>
                <a:sym typeface="Barlow Bold Italics"/>
              </a:rPr>
              <a:t> — </a:t>
            </a:r>
            <a:r>
              <a:rPr lang="en-US" sz="6989" b="1" i="1" dirty="0" err="1">
                <a:solidFill>
                  <a:srgbClr val="FFFFFF"/>
                </a:solidFill>
                <a:latin typeface="Barlow Bold Italics"/>
                <a:ea typeface="Barlow Bold Italics"/>
                <a:cs typeface="Barlow Bold Italics"/>
                <a:sym typeface="Barlow Bold Italics"/>
              </a:rPr>
              <a:t>Plateforme</a:t>
            </a:r>
            <a:r>
              <a:rPr lang="en-US" sz="6989" b="1" i="1" dirty="0">
                <a:solidFill>
                  <a:srgbClr val="FFFFFF"/>
                </a:solidFill>
                <a:latin typeface="Barlow Bold Italics"/>
                <a:ea typeface="Barlow Bold Italics"/>
                <a:cs typeface="Barlow Bold Italics"/>
                <a:sym typeface="Barlow Bold Italics"/>
              </a:rPr>
              <a:t> </a:t>
            </a:r>
            <a:r>
              <a:rPr lang="en-US" sz="6989" b="1" i="1" dirty="0" err="1">
                <a:solidFill>
                  <a:srgbClr val="FFFFFF"/>
                </a:solidFill>
                <a:latin typeface="Barlow Bold Italics"/>
                <a:ea typeface="Barlow Bold Italics"/>
                <a:cs typeface="Barlow Bold Italics"/>
                <a:sym typeface="Barlow Bold Italics"/>
              </a:rPr>
              <a:t>Marocaine</a:t>
            </a:r>
            <a:r>
              <a:rPr lang="en-US" sz="6989" b="1" i="1" dirty="0">
                <a:solidFill>
                  <a:srgbClr val="FFFFFF"/>
                </a:solidFill>
                <a:latin typeface="Barlow Bold Italics"/>
                <a:ea typeface="Barlow Bold Italics"/>
                <a:cs typeface="Barlow Bold Italics"/>
                <a:sym typeface="Barlow Bold Italics"/>
              </a:rPr>
              <a:t> BTP &amp; </a:t>
            </a:r>
            <a:r>
              <a:rPr lang="en-US" sz="6989" b="1" i="1" dirty="0" err="1">
                <a:solidFill>
                  <a:srgbClr val="FFFFFF"/>
                </a:solidFill>
                <a:latin typeface="Barlow Bold Italics"/>
                <a:ea typeface="Barlow Bold Italics"/>
                <a:cs typeface="Barlow Bold Italics"/>
                <a:sym typeface="Barlow Bold Italics"/>
              </a:rPr>
              <a:t>Immobilier</a:t>
            </a:r>
            <a:endParaRPr lang="en-US" sz="6989" b="1" i="1" dirty="0">
              <a:solidFill>
                <a:srgbClr val="FFFFFF"/>
              </a:solidFill>
              <a:latin typeface="Barlow Bold Italics"/>
              <a:ea typeface="Barlow Bold Italics"/>
              <a:cs typeface="Barlow Bold Italics"/>
              <a:sym typeface="Barlow Bold Italics"/>
            </a:endParaRPr>
          </a:p>
          <a:p>
            <a:pPr algn="l">
              <a:lnSpc>
                <a:spcPts val="8177"/>
              </a:lnSpc>
            </a:pPr>
            <a:endParaRPr lang="en-US" sz="6989" b="1" i="1" dirty="0">
              <a:solidFill>
                <a:srgbClr val="FFFFFF"/>
              </a:solidFill>
              <a:latin typeface="Barlow Bold Italics"/>
              <a:ea typeface="Barlow Bold Italics"/>
              <a:cs typeface="Barlow Bold Italics"/>
              <a:sym typeface="Barlow Bold Italic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86074" y="7856738"/>
            <a:ext cx="6291947" cy="976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42"/>
              </a:lnSpc>
              <a:spcBef>
                <a:spcPct val="0"/>
              </a:spcBef>
            </a:pPr>
            <a:r>
              <a:rPr lang="en-US" sz="2816" spc="-56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Réalisé par</a:t>
            </a:r>
            <a:r>
              <a:rPr lang="en-US" sz="2816" u="none" strike="noStrike" spc="-56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:  soufiane aayouni/Saad El Abboudi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604798" y="8466301"/>
            <a:ext cx="9312405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77"/>
              </a:lnSpc>
              <a:spcBef>
                <a:spcPct val="0"/>
              </a:spcBef>
            </a:pPr>
            <a:r>
              <a:rPr lang="en-US" sz="6989" b="1" i="1" dirty="0">
                <a:solidFill>
                  <a:srgbClr val="FFFFFF"/>
                </a:solidFill>
                <a:latin typeface="Barlow Bold Italics"/>
                <a:ea typeface="Barlow Bold Italics"/>
                <a:cs typeface="Barlow Bold Italics"/>
                <a:sym typeface="Barlow Bold Italics"/>
              </a:rPr>
              <a:t>Promotion:2025/2026</a:t>
            </a:r>
          </a:p>
        </p:txBody>
      </p:sp>
      <p:sp>
        <p:nvSpPr>
          <p:cNvPr id="10" name="AutoShape 10"/>
          <p:cNvSpPr/>
          <p:nvPr/>
        </p:nvSpPr>
        <p:spPr>
          <a:xfrm>
            <a:off x="8709830" y="8266338"/>
            <a:ext cx="0" cy="1451497"/>
          </a:xfrm>
          <a:prstGeom prst="line">
            <a:avLst/>
          </a:prstGeom>
          <a:ln w="857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/>
          <p:cNvSpPr txBox="1"/>
          <p:nvPr/>
        </p:nvSpPr>
        <p:spPr>
          <a:xfrm>
            <a:off x="552109" y="8917840"/>
            <a:ext cx="6291947" cy="480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42"/>
              </a:lnSpc>
              <a:spcBef>
                <a:spcPct val="0"/>
              </a:spcBef>
            </a:pPr>
            <a:r>
              <a:rPr lang="en-US" sz="2816" spc="-56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Encadrée par </a:t>
            </a:r>
            <a:r>
              <a:rPr lang="en-US" sz="2816" u="none" strike="noStrike" spc="-56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:  MmeAsmae youala</a:t>
            </a:r>
          </a:p>
        </p:txBody>
      </p:sp>
      <p:grpSp>
        <p:nvGrpSpPr>
          <p:cNvPr id="12" name="Group 2">
            <a:extLst>
              <a:ext uri="{FF2B5EF4-FFF2-40B4-BE49-F238E27FC236}">
                <a16:creationId xmlns:a16="http://schemas.microsoft.com/office/drawing/2014/main" id="{A1CBF6EF-DD39-3AE5-A3AF-0C5FA8CE0006}"/>
              </a:ext>
            </a:extLst>
          </p:cNvPr>
          <p:cNvGrpSpPr/>
          <p:nvPr/>
        </p:nvGrpSpPr>
        <p:grpSpPr>
          <a:xfrm>
            <a:off x="-12877800" y="-3728293"/>
            <a:ext cx="4738207" cy="2413197"/>
            <a:chOff x="-5412881" y="-347656"/>
            <a:chExt cx="739510" cy="376636"/>
          </a:xfrm>
        </p:grpSpPr>
        <p:sp>
          <p:nvSpPr>
            <p:cNvPr id="13" name="Freeform 3">
              <a:extLst>
                <a:ext uri="{FF2B5EF4-FFF2-40B4-BE49-F238E27FC236}">
                  <a16:creationId xmlns:a16="http://schemas.microsoft.com/office/drawing/2014/main" id="{860117AA-639E-67A0-36DE-254284E382FB}"/>
                </a:ext>
              </a:extLst>
            </p:cNvPr>
            <p:cNvSpPr/>
            <p:nvPr/>
          </p:nvSpPr>
          <p:spPr>
            <a:xfrm>
              <a:off x="-5412881" y="-261931"/>
              <a:ext cx="739510" cy="290911"/>
            </a:xfrm>
            <a:custGeom>
              <a:avLst/>
              <a:gdLst/>
              <a:ahLst/>
              <a:cxnLst/>
              <a:rect l="l" t="t" r="r" b="b"/>
              <a:pathLst>
                <a:path w="739510" h="290911">
                  <a:moveTo>
                    <a:pt x="76795" y="0"/>
                  </a:moveTo>
                  <a:lnTo>
                    <a:pt x="662715" y="0"/>
                  </a:lnTo>
                  <a:cubicBezTo>
                    <a:pt x="683082" y="0"/>
                    <a:pt x="702615" y="8091"/>
                    <a:pt x="717017" y="22493"/>
                  </a:cubicBezTo>
                  <a:cubicBezTo>
                    <a:pt x="731419" y="36895"/>
                    <a:pt x="739510" y="56428"/>
                    <a:pt x="739510" y="76795"/>
                  </a:cubicBezTo>
                  <a:lnTo>
                    <a:pt x="739510" y="214117"/>
                  </a:lnTo>
                  <a:cubicBezTo>
                    <a:pt x="739510" y="234484"/>
                    <a:pt x="731419" y="254017"/>
                    <a:pt x="717017" y="268419"/>
                  </a:cubicBezTo>
                  <a:cubicBezTo>
                    <a:pt x="702615" y="282821"/>
                    <a:pt x="683082" y="290911"/>
                    <a:pt x="662715" y="290911"/>
                  </a:cubicBezTo>
                  <a:lnTo>
                    <a:pt x="76795" y="290911"/>
                  </a:lnTo>
                  <a:cubicBezTo>
                    <a:pt x="56428" y="290911"/>
                    <a:pt x="36895" y="282821"/>
                    <a:pt x="22493" y="268419"/>
                  </a:cubicBezTo>
                  <a:cubicBezTo>
                    <a:pt x="8091" y="254017"/>
                    <a:pt x="0" y="234484"/>
                    <a:pt x="0" y="214117"/>
                  </a:cubicBezTo>
                  <a:lnTo>
                    <a:pt x="0" y="76795"/>
                  </a:lnTo>
                  <a:cubicBezTo>
                    <a:pt x="0" y="56428"/>
                    <a:pt x="8091" y="36895"/>
                    <a:pt x="22493" y="22493"/>
                  </a:cubicBezTo>
                  <a:cubicBezTo>
                    <a:pt x="36895" y="8091"/>
                    <a:pt x="56428" y="0"/>
                    <a:pt x="76795" y="0"/>
                  </a:cubicBezTo>
                  <a:close/>
                </a:path>
              </a:pathLst>
            </a:custGeom>
            <a:solidFill>
              <a:srgbClr val="94A83A"/>
            </a:solidFill>
          </p:spPr>
        </p:sp>
        <p:sp>
          <p:nvSpPr>
            <p:cNvPr id="14" name="TextBox 4">
              <a:extLst>
                <a:ext uri="{FF2B5EF4-FFF2-40B4-BE49-F238E27FC236}">
                  <a16:creationId xmlns:a16="http://schemas.microsoft.com/office/drawing/2014/main" id="{B8DE4B4C-8DE9-1A42-6CBF-5BA33EC894D9}"/>
                </a:ext>
              </a:extLst>
            </p:cNvPr>
            <p:cNvSpPr txBox="1"/>
            <p:nvPr/>
          </p:nvSpPr>
          <p:spPr>
            <a:xfrm>
              <a:off x="-5412881" y="-347656"/>
              <a:ext cx="739510" cy="376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699" b="1" dirty="0">
                  <a:solidFill>
                    <a:srgbClr val="000000"/>
                  </a:solidFill>
                  <a:latin typeface="Telegraf Medium"/>
                  <a:ea typeface="Telegraf Medium"/>
                  <a:cs typeface="Telegraf Medium"/>
                  <a:sym typeface="Telegraf Medium"/>
                </a:rPr>
                <a:t>1.</a:t>
              </a:r>
              <a:r>
                <a:rPr lang="en-US" sz="2699" b="1" i="1" dirty="0">
                  <a:solidFill>
                    <a:srgbClr val="000000"/>
                  </a:solidFill>
                  <a:latin typeface="Telegraf Medium"/>
                  <a:ea typeface="Telegraf Medium"/>
                  <a:cs typeface="Telegraf Medium"/>
                  <a:sym typeface="Telegraf Medium"/>
                </a:rPr>
                <a:t>Introduction &amp; </a:t>
              </a:r>
              <a:r>
                <a:rPr lang="en-US" sz="2699" b="1" i="1" dirty="0" err="1">
                  <a:solidFill>
                    <a:srgbClr val="000000"/>
                  </a:solidFill>
                  <a:latin typeface="Telegraf Medium"/>
                  <a:ea typeface="Telegraf Medium"/>
                  <a:cs typeface="Telegraf Medium"/>
                  <a:sym typeface="Telegraf Medium"/>
                </a:rPr>
                <a:t>objectifs</a:t>
              </a:r>
              <a:endParaRPr lang="en-US" sz="2699" b="1" i="1" dirty="0">
                <a:solidFill>
                  <a:srgbClr val="000000"/>
                </a:solidFill>
                <a:latin typeface="Telegraf Medium"/>
                <a:ea typeface="Telegraf Medium"/>
                <a:cs typeface="Telegraf Medium"/>
                <a:sym typeface="Telegraf Medium"/>
              </a:endParaRPr>
            </a:p>
          </p:txBody>
        </p:sp>
      </p:grpSp>
      <p:grpSp>
        <p:nvGrpSpPr>
          <p:cNvPr id="15" name="Group 5">
            <a:extLst>
              <a:ext uri="{FF2B5EF4-FFF2-40B4-BE49-F238E27FC236}">
                <a16:creationId xmlns:a16="http://schemas.microsoft.com/office/drawing/2014/main" id="{C00BA1C1-3234-2F84-407C-E05242E6807B}"/>
              </a:ext>
            </a:extLst>
          </p:cNvPr>
          <p:cNvGrpSpPr/>
          <p:nvPr/>
        </p:nvGrpSpPr>
        <p:grpSpPr>
          <a:xfrm>
            <a:off x="-5334000" y="-5042968"/>
            <a:ext cx="4738207" cy="1863936"/>
            <a:chOff x="0" y="0"/>
            <a:chExt cx="739510" cy="290911"/>
          </a:xfrm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F808961F-429A-7125-EA40-36D89F9F8376}"/>
                </a:ext>
              </a:extLst>
            </p:cNvPr>
            <p:cNvSpPr/>
            <p:nvPr/>
          </p:nvSpPr>
          <p:spPr>
            <a:xfrm>
              <a:off x="0" y="0"/>
              <a:ext cx="739510" cy="290911"/>
            </a:xfrm>
            <a:custGeom>
              <a:avLst/>
              <a:gdLst/>
              <a:ahLst/>
              <a:cxnLst/>
              <a:rect l="l" t="t" r="r" b="b"/>
              <a:pathLst>
                <a:path w="739510" h="290911">
                  <a:moveTo>
                    <a:pt x="76795" y="0"/>
                  </a:moveTo>
                  <a:lnTo>
                    <a:pt x="662715" y="0"/>
                  </a:lnTo>
                  <a:cubicBezTo>
                    <a:pt x="683082" y="0"/>
                    <a:pt x="702615" y="8091"/>
                    <a:pt x="717017" y="22493"/>
                  </a:cubicBezTo>
                  <a:cubicBezTo>
                    <a:pt x="731419" y="36895"/>
                    <a:pt x="739510" y="56428"/>
                    <a:pt x="739510" y="76795"/>
                  </a:cubicBezTo>
                  <a:lnTo>
                    <a:pt x="739510" y="214117"/>
                  </a:lnTo>
                  <a:cubicBezTo>
                    <a:pt x="739510" y="234484"/>
                    <a:pt x="731419" y="254017"/>
                    <a:pt x="717017" y="268419"/>
                  </a:cubicBezTo>
                  <a:cubicBezTo>
                    <a:pt x="702615" y="282821"/>
                    <a:pt x="683082" y="290911"/>
                    <a:pt x="662715" y="290911"/>
                  </a:cubicBezTo>
                  <a:lnTo>
                    <a:pt x="76795" y="290911"/>
                  </a:lnTo>
                  <a:cubicBezTo>
                    <a:pt x="56428" y="290911"/>
                    <a:pt x="36895" y="282821"/>
                    <a:pt x="22493" y="268419"/>
                  </a:cubicBezTo>
                  <a:cubicBezTo>
                    <a:pt x="8091" y="254017"/>
                    <a:pt x="0" y="234484"/>
                    <a:pt x="0" y="214117"/>
                  </a:cubicBezTo>
                  <a:lnTo>
                    <a:pt x="0" y="76795"/>
                  </a:lnTo>
                  <a:cubicBezTo>
                    <a:pt x="0" y="56428"/>
                    <a:pt x="8091" y="36895"/>
                    <a:pt x="22493" y="22493"/>
                  </a:cubicBezTo>
                  <a:cubicBezTo>
                    <a:pt x="36895" y="8091"/>
                    <a:pt x="56428" y="0"/>
                    <a:pt x="76795" y="0"/>
                  </a:cubicBezTo>
                  <a:close/>
                </a:path>
              </a:pathLst>
            </a:custGeom>
            <a:solidFill>
              <a:srgbClr val="94A83A"/>
            </a:solidFill>
          </p:spPr>
        </p:sp>
        <p:sp>
          <p:nvSpPr>
            <p:cNvPr id="17" name="TextBox 7">
              <a:extLst>
                <a:ext uri="{FF2B5EF4-FFF2-40B4-BE49-F238E27FC236}">
                  <a16:creationId xmlns:a16="http://schemas.microsoft.com/office/drawing/2014/main" id="{9A81438C-56D0-ED19-C55E-39F2FA32E9C0}"/>
                </a:ext>
              </a:extLst>
            </p:cNvPr>
            <p:cNvSpPr txBox="1"/>
            <p:nvPr/>
          </p:nvSpPr>
          <p:spPr>
            <a:xfrm>
              <a:off x="0" y="-85725"/>
              <a:ext cx="739510" cy="376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699" b="1">
                  <a:solidFill>
                    <a:srgbClr val="000000"/>
                  </a:solidFill>
                  <a:latin typeface="Telegraf Medium"/>
                  <a:ea typeface="Telegraf Medium"/>
                  <a:cs typeface="Telegraf Medium"/>
                  <a:sym typeface="Telegraf Medium"/>
                </a:rPr>
                <a:t>2.Problématique</a:t>
              </a:r>
            </a:p>
          </p:txBody>
        </p:sp>
      </p:grpSp>
      <p:grpSp>
        <p:nvGrpSpPr>
          <p:cNvPr id="18" name="Group 8">
            <a:extLst>
              <a:ext uri="{FF2B5EF4-FFF2-40B4-BE49-F238E27FC236}">
                <a16:creationId xmlns:a16="http://schemas.microsoft.com/office/drawing/2014/main" id="{8A77958C-8B73-3DB3-56C3-7C0185D00686}"/>
              </a:ext>
            </a:extLst>
          </p:cNvPr>
          <p:cNvGrpSpPr/>
          <p:nvPr/>
        </p:nvGrpSpPr>
        <p:grpSpPr>
          <a:xfrm>
            <a:off x="22860000" y="-3219427"/>
            <a:ext cx="4870376" cy="1863936"/>
            <a:chOff x="0" y="0"/>
            <a:chExt cx="760138" cy="290911"/>
          </a:xfrm>
        </p:grpSpPr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DBBBDDD4-45F5-5234-7987-3EE20AA20DC3}"/>
                </a:ext>
              </a:extLst>
            </p:cNvPr>
            <p:cNvSpPr/>
            <p:nvPr/>
          </p:nvSpPr>
          <p:spPr>
            <a:xfrm>
              <a:off x="0" y="0"/>
              <a:ext cx="760138" cy="290911"/>
            </a:xfrm>
            <a:custGeom>
              <a:avLst/>
              <a:gdLst/>
              <a:ahLst/>
              <a:cxnLst/>
              <a:rect l="l" t="t" r="r" b="b"/>
              <a:pathLst>
                <a:path w="760138" h="290911">
                  <a:moveTo>
                    <a:pt x="74711" y="0"/>
                  </a:moveTo>
                  <a:lnTo>
                    <a:pt x="685427" y="0"/>
                  </a:lnTo>
                  <a:cubicBezTo>
                    <a:pt x="705242" y="0"/>
                    <a:pt x="724245" y="7871"/>
                    <a:pt x="738256" y="21882"/>
                  </a:cubicBezTo>
                  <a:cubicBezTo>
                    <a:pt x="752267" y="35893"/>
                    <a:pt x="760138" y="54896"/>
                    <a:pt x="760138" y="74711"/>
                  </a:cubicBezTo>
                  <a:lnTo>
                    <a:pt x="760138" y="216201"/>
                  </a:lnTo>
                  <a:cubicBezTo>
                    <a:pt x="760138" y="236015"/>
                    <a:pt x="752267" y="255018"/>
                    <a:pt x="738256" y="269029"/>
                  </a:cubicBezTo>
                  <a:cubicBezTo>
                    <a:pt x="724245" y="283040"/>
                    <a:pt x="705242" y="290911"/>
                    <a:pt x="685427" y="290911"/>
                  </a:cubicBezTo>
                  <a:lnTo>
                    <a:pt x="74711" y="290911"/>
                  </a:lnTo>
                  <a:cubicBezTo>
                    <a:pt x="54896" y="290911"/>
                    <a:pt x="35893" y="283040"/>
                    <a:pt x="21882" y="269029"/>
                  </a:cubicBezTo>
                  <a:cubicBezTo>
                    <a:pt x="7871" y="255018"/>
                    <a:pt x="0" y="236015"/>
                    <a:pt x="0" y="216201"/>
                  </a:cubicBezTo>
                  <a:lnTo>
                    <a:pt x="0" y="74711"/>
                  </a:lnTo>
                  <a:cubicBezTo>
                    <a:pt x="0" y="54896"/>
                    <a:pt x="7871" y="35893"/>
                    <a:pt x="21882" y="21882"/>
                  </a:cubicBezTo>
                  <a:cubicBezTo>
                    <a:pt x="35893" y="7871"/>
                    <a:pt x="54896" y="0"/>
                    <a:pt x="74711" y="0"/>
                  </a:cubicBezTo>
                  <a:close/>
                </a:path>
              </a:pathLst>
            </a:custGeom>
            <a:solidFill>
              <a:srgbClr val="94A83A"/>
            </a:solidFill>
          </p:spPr>
        </p:sp>
        <p:sp>
          <p:nvSpPr>
            <p:cNvPr id="20" name="TextBox 10">
              <a:extLst>
                <a:ext uri="{FF2B5EF4-FFF2-40B4-BE49-F238E27FC236}">
                  <a16:creationId xmlns:a16="http://schemas.microsoft.com/office/drawing/2014/main" id="{50FAEAD9-2151-B2F0-ABA7-8332CDB774C5}"/>
                </a:ext>
              </a:extLst>
            </p:cNvPr>
            <p:cNvSpPr txBox="1"/>
            <p:nvPr/>
          </p:nvSpPr>
          <p:spPr>
            <a:xfrm>
              <a:off x="0" y="-85725"/>
              <a:ext cx="760138" cy="376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699" b="1">
                  <a:solidFill>
                    <a:srgbClr val="000000"/>
                  </a:solidFill>
                  <a:latin typeface="Telegraf Medium"/>
                  <a:ea typeface="Telegraf Medium"/>
                  <a:cs typeface="Telegraf Medium"/>
                  <a:sym typeface="Telegraf Medium"/>
                </a:rPr>
                <a:t>3.Fonctionnalités principales </a:t>
              </a:r>
            </a:p>
          </p:txBody>
        </p:sp>
      </p:grpSp>
      <p:grpSp>
        <p:nvGrpSpPr>
          <p:cNvPr id="21" name="Group 11">
            <a:extLst>
              <a:ext uri="{FF2B5EF4-FFF2-40B4-BE49-F238E27FC236}">
                <a16:creationId xmlns:a16="http://schemas.microsoft.com/office/drawing/2014/main" id="{0D23CB6A-85D5-19B0-F2CF-E8650FC4007C}"/>
              </a:ext>
            </a:extLst>
          </p:cNvPr>
          <p:cNvGrpSpPr/>
          <p:nvPr/>
        </p:nvGrpSpPr>
        <p:grpSpPr>
          <a:xfrm>
            <a:off x="-10938502" y="5135028"/>
            <a:ext cx="4738207" cy="1863936"/>
            <a:chOff x="0" y="0"/>
            <a:chExt cx="739510" cy="290911"/>
          </a:xfrm>
        </p:grpSpPr>
        <p:sp>
          <p:nvSpPr>
            <p:cNvPr id="22" name="Freeform 12">
              <a:extLst>
                <a:ext uri="{FF2B5EF4-FFF2-40B4-BE49-F238E27FC236}">
                  <a16:creationId xmlns:a16="http://schemas.microsoft.com/office/drawing/2014/main" id="{1CF2D13C-E1C8-C69F-7D8D-BCB5EDCAC918}"/>
                </a:ext>
              </a:extLst>
            </p:cNvPr>
            <p:cNvSpPr/>
            <p:nvPr/>
          </p:nvSpPr>
          <p:spPr>
            <a:xfrm>
              <a:off x="0" y="0"/>
              <a:ext cx="739510" cy="290911"/>
            </a:xfrm>
            <a:custGeom>
              <a:avLst/>
              <a:gdLst/>
              <a:ahLst/>
              <a:cxnLst/>
              <a:rect l="l" t="t" r="r" b="b"/>
              <a:pathLst>
                <a:path w="739510" h="290911">
                  <a:moveTo>
                    <a:pt x="76795" y="0"/>
                  </a:moveTo>
                  <a:lnTo>
                    <a:pt x="662715" y="0"/>
                  </a:lnTo>
                  <a:cubicBezTo>
                    <a:pt x="683082" y="0"/>
                    <a:pt x="702615" y="8091"/>
                    <a:pt x="717017" y="22493"/>
                  </a:cubicBezTo>
                  <a:cubicBezTo>
                    <a:pt x="731419" y="36895"/>
                    <a:pt x="739510" y="56428"/>
                    <a:pt x="739510" y="76795"/>
                  </a:cubicBezTo>
                  <a:lnTo>
                    <a:pt x="739510" y="214117"/>
                  </a:lnTo>
                  <a:cubicBezTo>
                    <a:pt x="739510" y="234484"/>
                    <a:pt x="731419" y="254017"/>
                    <a:pt x="717017" y="268419"/>
                  </a:cubicBezTo>
                  <a:cubicBezTo>
                    <a:pt x="702615" y="282821"/>
                    <a:pt x="683082" y="290911"/>
                    <a:pt x="662715" y="290911"/>
                  </a:cubicBezTo>
                  <a:lnTo>
                    <a:pt x="76795" y="290911"/>
                  </a:lnTo>
                  <a:cubicBezTo>
                    <a:pt x="56428" y="290911"/>
                    <a:pt x="36895" y="282821"/>
                    <a:pt x="22493" y="268419"/>
                  </a:cubicBezTo>
                  <a:cubicBezTo>
                    <a:pt x="8091" y="254017"/>
                    <a:pt x="0" y="234484"/>
                    <a:pt x="0" y="214117"/>
                  </a:cubicBezTo>
                  <a:lnTo>
                    <a:pt x="0" y="76795"/>
                  </a:lnTo>
                  <a:cubicBezTo>
                    <a:pt x="0" y="56428"/>
                    <a:pt x="8091" y="36895"/>
                    <a:pt x="22493" y="22493"/>
                  </a:cubicBezTo>
                  <a:cubicBezTo>
                    <a:pt x="36895" y="8091"/>
                    <a:pt x="56428" y="0"/>
                    <a:pt x="76795" y="0"/>
                  </a:cubicBezTo>
                  <a:close/>
                </a:path>
              </a:pathLst>
            </a:custGeom>
            <a:solidFill>
              <a:srgbClr val="94A83A"/>
            </a:solidFill>
          </p:spPr>
        </p:sp>
        <p:sp>
          <p:nvSpPr>
            <p:cNvPr id="23" name="TextBox 13">
              <a:extLst>
                <a:ext uri="{FF2B5EF4-FFF2-40B4-BE49-F238E27FC236}">
                  <a16:creationId xmlns:a16="http://schemas.microsoft.com/office/drawing/2014/main" id="{72B43BE7-DAFB-A23C-6C2E-BE8E9F672ED8}"/>
                </a:ext>
              </a:extLst>
            </p:cNvPr>
            <p:cNvSpPr txBox="1"/>
            <p:nvPr/>
          </p:nvSpPr>
          <p:spPr>
            <a:xfrm>
              <a:off x="0" y="-85725"/>
              <a:ext cx="739510" cy="376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699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4.</a:t>
              </a:r>
              <a:r>
                <a:rPr lang="en-US" sz="2699" b="1" i="1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Choix techniques </a:t>
              </a:r>
            </a:p>
          </p:txBody>
        </p:sp>
      </p:grpSp>
      <p:grpSp>
        <p:nvGrpSpPr>
          <p:cNvPr id="24" name="Group 14">
            <a:extLst>
              <a:ext uri="{FF2B5EF4-FFF2-40B4-BE49-F238E27FC236}">
                <a16:creationId xmlns:a16="http://schemas.microsoft.com/office/drawing/2014/main" id="{6D26FAE1-36E5-2EA4-BD4B-ABAD12F2D167}"/>
              </a:ext>
            </a:extLst>
          </p:cNvPr>
          <p:cNvGrpSpPr/>
          <p:nvPr/>
        </p:nvGrpSpPr>
        <p:grpSpPr>
          <a:xfrm>
            <a:off x="1752602" y="-3890505"/>
            <a:ext cx="4738207" cy="2413196"/>
            <a:chOff x="-3918201" y="-492349"/>
            <a:chExt cx="739510" cy="376636"/>
          </a:xfrm>
        </p:grpSpPr>
        <p:sp>
          <p:nvSpPr>
            <p:cNvPr id="25" name="Freeform 15">
              <a:extLst>
                <a:ext uri="{FF2B5EF4-FFF2-40B4-BE49-F238E27FC236}">
                  <a16:creationId xmlns:a16="http://schemas.microsoft.com/office/drawing/2014/main" id="{9A5BFCC7-8ADB-1755-4DFC-99E6CC56471E}"/>
                </a:ext>
              </a:extLst>
            </p:cNvPr>
            <p:cNvSpPr/>
            <p:nvPr/>
          </p:nvSpPr>
          <p:spPr>
            <a:xfrm>
              <a:off x="-3918201" y="-406624"/>
              <a:ext cx="739510" cy="290911"/>
            </a:xfrm>
            <a:custGeom>
              <a:avLst/>
              <a:gdLst/>
              <a:ahLst/>
              <a:cxnLst/>
              <a:rect l="l" t="t" r="r" b="b"/>
              <a:pathLst>
                <a:path w="739510" h="290911">
                  <a:moveTo>
                    <a:pt x="76795" y="0"/>
                  </a:moveTo>
                  <a:lnTo>
                    <a:pt x="662715" y="0"/>
                  </a:lnTo>
                  <a:cubicBezTo>
                    <a:pt x="683082" y="0"/>
                    <a:pt x="702615" y="8091"/>
                    <a:pt x="717017" y="22493"/>
                  </a:cubicBezTo>
                  <a:cubicBezTo>
                    <a:pt x="731419" y="36895"/>
                    <a:pt x="739510" y="56428"/>
                    <a:pt x="739510" y="76795"/>
                  </a:cubicBezTo>
                  <a:lnTo>
                    <a:pt x="739510" y="214117"/>
                  </a:lnTo>
                  <a:cubicBezTo>
                    <a:pt x="739510" y="234484"/>
                    <a:pt x="731419" y="254017"/>
                    <a:pt x="717017" y="268419"/>
                  </a:cubicBezTo>
                  <a:cubicBezTo>
                    <a:pt x="702615" y="282821"/>
                    <a:pt x="683082" y="290911"/>
                    <a:pt x="662715" y="290911"/>
                  </a:cubicBezTo>
                  <a:lnTo>
                    <a:pt x="76795" y="290911"/>
                  </a:lnTo>
                  <a:cubicBezTo>
                    <a:pt x="56428" y="290911"/>
                    <a:pt x="36895" y="282821"/>
                    <a:pt x="22493" y="268419"/>
                  </a:cubicBezTo>
                  <a:cubicBezTo>
                    <a:pt x="8091" y="254017"/>
                    <a:pt x="0" y="234484"/>
                    <a:pt x="0" y="214117"/>
                  </a:cubicBezTo>
                  <a:lnTo>
                    <a:pt x="0" y="76795"/>
                  </a:lnTo>
                  <a:cubicBezTo>
                    <a:pt x="0" y="56428"/>
                    <a:pt x="8091" y="36895"/>
                    <a:pt x="22493" y="22493"/>
                  </a:cubicBezTo>
                  <a:cubicBezTo>
                    <a:pt x="36895" y="8091"/>
                    <a:pt x="56428" y="0"/>
                    <a:pt x="76795" y="0"/>
                  </a:cubicBezTo>
                  <a:close/>
                </a:path>
              </a:pathLst>
            </a:custGeom>
            <a:solidFill>
              <a:srgbClr val="94A83A"/>
            </a:solidFill>
          </p:spPr>
        </p:sp>
        <p:sp>
          <p:nvSpPr>
            <p:cNvPr id="26" name="TextBox 16">
              <a:extLst>
                <a:ext uri="{FF2B5EF4-FFF2-40B4-BE49-F238E27FC236}">
                  <a16:creationId xmlns:a16="http://schemas.microsoft.com/office/drawing/2014/main" id="{0D1A9006-5B01-134E-D3A1-5D5FE6869089}"/>
                </a:ext>
              </a:extLst>
            </p:cNvPr>
            <p:cNvSpPr txBox="1"/>
            <p:nvPr/>
          </p:nvSpPr>
          <p:spPr>
            <a:xfrm>
              <a:off x="-3918201" y="-492349"/>
              <a:ext cx="739510" cy="376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 dirty="0">
                  <a:solidFill>
                    <a:srgbClr val="000000"/>
                  </a:solidFill>
                  <a:latin typeface="Telegraf Medium"/>
                  <a:ea typeface="Telegraf Medium"/>
                  <a:cs typeface="Telegraf Medium"/>
                  <a:sym typeface="Telegraf Medium"/>
                </a:rPr>
                <a:t>5.Réalisation(</a:t>
              </a:r>
              <a:r>
                <a:rPr lang="en-US" sz="2499" b="1" dirty="0" err="1">
                  <a:solidFill>
                    <a:srgbClr val="000000"/>
                  </a:solidFill>
                  <a:latin typeface="Telegraf Medium"/>
                  <a:ea typeface="Telegraf Medium"/>
                  <a:cs typeface="Telegraf Medium"/>
                  <a:sym typeface="Telegraf Medium"/>
                </a:rPr>
                <a:t>démonstration</a:t>
              </a:r>
              <a:r>
                <a:rPr lang="en-US" sz="2499" b="1" dirty="0">
                  <a:solidFill>
                    <a:srgbClr val="000000"/>
                  </a:solidFill>
                  <a:latin typeface="Telegraf Medium"/>
                  <a:ea typeface="Telegraf Medium"/>
                  <a:cs typeface="Telegraf Medium"/>
                  <a:sym typeface="Telegraf Medium"/>
                </a:rPr>
                <a:t>) </a:t>
              </a:r>
            </a:p>
          </p:txBody>
        </p:sp>
      </p:grpSp>
      <p:grpSp>
        <p:nvGrpSpPr>
          <p:cNvPr id="27" name="Group 17">
            <a:extLst>
              <a:ext uri="{FF2B5EF4-FFF2-40B4-BE49-F238E27FC236}">
                <a16:creationId xmlns:a16="http://schemas.microsoft.com/office/drawing/2014/main" id="{3042FF94-4023-6ABB-BE59-F3E79C698940}"/>
              </a:ext>
            </a:extLst>
          </p:cNvPr>
          <p:cNvGrpSpPr/>
          <p:nvPr/>
        </p:nvGrpSpPr>
        <p:grpSpPr>
          <a:xfrm>
            <a:off x="17145000" y="12398212"/>
            <a:ext cx="4870376" cy="1863936"/>
            <a:chOff x="0" y="0"/>
            <a:chExt cx="760138" cy="290911"/>
          </a:xfrm>
        </p:grpSpPr>
        <p:sp>
          <p:nvSpPr>
            <p:cNvPr id="28" name="Freeform 18">
              <a:extLst>
                <a:ext uri="{FF2B5EF4-FFF2-40B4-BE49-F238E27FC236}">
                  <a16:creationId xmlns:a16="http://schemas.microsoft.com/office/drawing/2014/main" id="{546CB986-4BEE-B32E-A568-3FA06BF54F04}"/>
                </a:ext>
              </a:extLst>
            </p:cNvPr>
            <p:cNvSpPr/>
            <p:nvPr/>
          </p:nvSpPr>
          <p:spPr>
            <a:xfrm>
              <a:off x="0" y="0"/>
              <a:ext cx="760138" cy="290911"/>
            </a:xfrm>
            <a:custGeom>
              <a:avLst/>
              <a:gdLst/>
              <a:ahLst/>
              <a:cxnLst/>
              <a:rect l="l" t="t" r="r" b="b"/>
              <a:pathLst>
                <a:path w="760138" h="290911">
                  <a:moveTo>
                    <a:pt x="74711" y="0"/>
                  </a:moveTo>
                  <a:lnTo>
                    <a:pt x="685427" y="0"/>
                  </a:lnTo>
                  <a:cubicBezTo>
                    <a:pt x="705242" y="0"/>
                    <a:pt x="724245" y="7871"/>
                    <a:pt x="738256" y="21882"/>
                  </a:cubicBezTo>
                  <a:cubicBezTo>
                    <a:pt x="752267" y="35893"/>
                    <a:pt x="760138" y="54896"/>
                    <a:pt x="760138" y="74711"/>
                  </a:cubicBezTo>
                  <a:lnTo>
                    <a:pt x="760138" y="216201"/>
                  </a:lnTo>
                  <a:cubicBezTo>
                    <a:pt x="760138" y="236015"/>
                    <a:pt x="752267" y="255018"/>
                    <a:pt x="738256" y="269029"/>
                  </a:cubicBezTo>
                  <a:cubicBezTo>
                    <a:pt x="724245" y="283040"/>
                    <a:pt x="705242" y="290911"/>
                    <a:pt x="685427" y="290911"/>
                  </a:cubicBezTo>
                  <a:lnTo>
                    <a:pt x="74711" y="290911"/>
                  </a:lnTo>
                  <a:cubicBezTo>
                    <a:pt x="54896" y="290911"/>
                    <a:pt x="35893" y="283040"/>
                    <a:pt x="21882" y="269029"/>
                  </a:cubicBezTo>
                  <a:cubicBezTo>
                    <a:pt x="7871" y="255018"/>
                    <a:pt x="0" y="236015"/>
                    <a:pt x="0" y="216201"/>
                  </a:cubicBezTo>
                  <a:lnTo>
                    <a:pt x="0" y="74711"/>
                  </a:lnTo>
                  <a:cubicBezTo>
                    <a:pt x="0" y="54896"/>
                    <a:pt x="7871" y="35893"/>
                    <a:pt x="21882" y="21882"/>
                  </a:cubicBezTo>
                  <a:cubicBezTo>
                    <a:pt x="35893" y="7871"/>
                    <a:pt x="54896" y="0"/>
                    <a:pt x="74711" y="0"/>
                  </a:cubicBezTo>
                  <a:close/>
                </a:path>
              </a:pathLst>
            </a:custGeom>
            <a:solidFill>
              <a:srgbClr val="94A83A"/>
            </a:solidFill>
          </p:spPr>
        </p:sp>
        <p:sp>
          <p:nvSpPr>
            <p:cNvPr id="29" name="TextBox 19">
              <a:extLst>
                <a:ext uri="{FF2B5EF4-FFF2-40B4-BE49-F238E27FC236}">
                  <a16:creationId xmlns:a16="http://schemas.microsoft.com/office/drawing/2014/main" id="{B8B8ECEC-EEE6-AA48-707C-B9C60E92CDFB}"/>
                </a:ext>
              </a:extLst>
            </p:cNvPr>
            <p:cNvSpPr txBox="1"/>
            <p:nvPr/>
          </p:nvSpPr>
          <p:spPr>
            <a:xfrm>
              <a:off x="0" y="-85725"/>
              <a:ext cx="760138" cy="376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699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6.</a:t>
              </a:r>
              <a:r>
                <a:rPr lang="en-US" sz="2699" b="1" i="1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Difficultés rencontrées</a:t>
              </a:r>
            </a:p>
          </p:txBody>
        </p:sp>
      </p:grpSp>
      <p:grpSp>
        <p:nvGrpSpPr>
          <p:cNvPr id="30" name="Group 20">
            <a:extLst>
              <a:ext uri="{FF2B5EF4-FFF2-40B4-BE49-F238E27FC236}">
                <a16:creationId xmlns:a16="http://schemas.microsoft.com/office/drawing/2014/main" id="{9660C844-256A-718D-0E38-CAEF3C9B7AB3}"/>
              </a:ext>
            </a:extLst>
          </p:cNvPr>
          <p:cNvGrpSpPr/>
          <p:nvPr/>
        </p:nvGrpSpPr>
        <p:grpSpPr>
          <a:xfrm>
            <a:off x="321033" y="12701644"/>
            <a:ext cx="6148005" cy="1863936"/>
            <a:chOff x="0" y="0"/>
            <a:chExt cx="959542" cy="290911"/>
          </a:xfrm>
        </p:grpSpPr>
        <p:sp>
          <p:nvSpPr>
            <p:cNvPr id="31" name="Freeform 21">
              <a:extLst>
                <a:ext uri="{FF2B5EF4-FFF2-40B4-BE49-F238E27FC236}">
                  <a16:creationId xmlns:a16="http://schemas.microsoft.com/office/drawing/2014/main" id="{EBC65D49-7CA9-D313-6D94-EFB7EAA0CB7E}"/>
                </a:ext>
              </a:extLst>
            </p:cNvPr>
            <p:cNvSpPr/>
            <p:nvPr/>
          </p:nvSpPr>
          <p:spPr>
            <a:xfrm>
              <a:off x="0" y="0"/>
              <a:ext cx="959542" cy="290911"/>
            </a:xfrm>
            <a:custGeom>
              <a:avLst/>
              <a:gdLst/>
              <a:ahLst/>
              <a:cxnLst/>
              <a:rect l="l" t="t" r="r" b="b"/>
              <a:pathLst>
                <a:path w="959542" h="290911">
                  <a:moveTo>
                    <a:pt x="59185" y="0"/>
                  </a:moveTo>
                  <a:lnTo>
                    <a:pt x="900357" y="0"/>
                  </a:lnTo>
                  <a:cubicBezTo>
                    <a:pt x="916054" y="0"/>
                    <a:pt x="931108" y="6236"/>
                    <a:pt x="942207" y="17335"/>
                  </a:cubicBezTo>
                  <a:cubicBezTo>
                    <a:pt x="953307" y="28434"/>
                    <a:pt x="959542" y="43488"/>
                    <a:pt x="959542" y="59185"/>
                  </a:cubicBezTo>
                  <a:lnTo>
                    <a:pt x="959542" y="231726"/>
                  </a:lnTo>
                  <a:cubicBezTo>
                    <a:pt x="959542" y="247423"/>
                    <a:pt x="953307" y="262477"/>
                    <a:pt x="942207" y="273577"/>
                  </a:cubicBezTo>
                  <a:cubicBezTo>
                    <a:pt x="931108" y="284676"/>
                    <a:pt x="916054" y="290911"/>
                    <a:pt x="900357" y="290911"/>
                  </a:cubicBezTo>
                  <a:lnTo>
                    <a:pt x="59185" y="290911"/>
                  </a:lnTo>
                  <a:cubicBezTo>
                    <a:pt x="43488" y="290911"/>
                    <a:pt x="28434" y="284676"/>
                    <a:pt x="17335" y="273577"/>
                  </a:cubicBezTo>
                  <a:cubicBezTo>
                    <a:pt x="6236" y="262477"/>
                    <a:pt x="0" y="247423"/>
                    <a:pt x="0" y="231726"/>
                  </a:cubicBezTo>
                  <a:lnTo>
                    <a:pt x="0" y="59185"/>
                  </a:lnTo>
                  <a:cubicBezTo>
                    <a:pt x="0" y="43488"/>
                    <a:pt x="6236" y="28434"/>
                    <a:pt x="17335" y="17335"/>
                  </a:cubicBezTo>
                  <a:cubicBezTo>
                    <a:pt x="28434" y="6236"/>
                    <a:pt x="43488" y="0"/>
                    <a:pt x="59185" y="0"/>
                  </a:cubicBezTo>
                  <a:close/>
                </a:path>
              </a:pathLst>
            </a:custGeom>
            <a:solidFill>
              <a:srgbClr val="94A83A"/>
            </a:solidFill>
          </p:spPr>
        </p:sp>
        <p:sp>
          <p:nvSpPr>
            <p:cNvPr id="32" name="TextBox 22">
              <a:extLst>
                <a:ext uri="{FF2B5EF4-FFF2-40B4-BE49-F238E27FC236}">
                  <a16:creationId xmlns:a16="http://schemas.microsoft.com/office/drawing/2014/main" id="{DA9C5590-00AA-9A81-C1AC-747A129121B1}"/>
                </a:ext>
              </a:extLst>
            </p:cNvPr>
            <p:cNvSpPr txBox="1"/>
            <p:nvPr/>
          </p:nvSpPr>
          <p:spPr>
            <a:xfrm>
              <a:off x="0" y="-85725"/>
              <a:ext cx="959542" cy="376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699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7.</a:t>
              </a:r>
              <a:r>
                <a:rPr lang="en-US" sz="2699" b="1" i="1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Bilan &amp; améliorations possibles </a:t>
              </a:r>
            </a:p>
          </p:txBody>
        </p:sp>
      </p:grpSp>
      <p:sp>
        <p:nvSpPr>
          <p:cNvPr id="33" name="TextBox 23">
            <a:extLst>
              <a:ext uri="{FF2B5EF4-FFF2-40B4-BE49-F238E27FC236}">
                <a16:creationId xmlns:a16="http://schemas.microsoft.com/office/drawing/2014/main" id="{E4460050-30EE-EE87-9AA5-EFFBBC2D3917}"/>
              </a:ext>
            </a:extLst>
          </p:cNvPr>
          <p:cNvSpPr txBox="1"/>
          <p:nvPr/>
        </p:nvSpPr>
        <p:spPr>
          <a:xfrm>
            <a:off x="6987911" y="-6695837"/>
            <a:ext cx="8238411" cy="1055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77"/>
              </a:lnSpc>
              <a:spcBef>
                <a:spcPct val="0"/>
              </a:spcBef>
            </a:pPr>
            <a:r>
              <a:rPr lang="en-US" sz="6989" b="1" i="1" dirty="0">
                <a:solidFill>
                  <a:srgbClr val="FFFFFF"/>
                </a:solidFill>
                <a:latin typeface="Barlow Bold Italics"/>
                <a:ea typeface="Barlow Bold Italics"/>
                <a:cs typeface="Barlow Bold Italics"/>
                <a:sym typeface="Barlow Bold Italics"/>
              </a:rPr>
              <a:t>Plan de presentation: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668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2189092"/>
            <a:ext cx="4738207" cy="1863936"/>
            <a:chOff x="0" y="0"/>
            <a:chExt cx="739510" cy="29091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39510" cy="290911"/>
            </a:xfrm>
            <a:custGeom>
              <a:avLst/>
              <a:gdLst/>
              <a:ahLst/>
              <a:cxnLst/>
              <a:rect l="l" t="t" r="r" b="b"/>
              <a:pathLst>
                <a:path w="739510" h="290911">
                  <a:moveTo>
                    <a:pt x="76795" y="0"/>
                  </a:moveTo>
                  <a:lnTo>
                    <a:pt x="662715" y="0"/>
                  </a:lnTo>
                  <a:cubicBezTo>
                    <a:pt x="683082" y="0"/>
                    <a:pt x="702615" y="8091"/>
                    <a:pt x="717017" y="22493"/>
                  </a:cubicBezTo>
                  <a:cubicBezTo>
                    <a:pt x="731419" y="36895"/>
                    <a:pt x="739510" y="56428"/>
                    <a:pt x="739510" y="76795"/>
                  </a:cubicBezTo>
                  <a:lnTo>
                    <a:pt x="739510" y="214117"/>
                  </a:lnTo>
                  <a:cubicBezTo>
                    <a:pt x="739510" y="234484"/>
                    <a:pt x="731419" y="254017"/>
                    <a:pt x="717017" y="268419"/>
                  </a:cubicBezTo>
                  <a:cubicBezTo>
                    <a:pt x="702615" y="282821"/>
                    <a:pt x="683082" y="290911"/>
                    <a:pt x="662715" y="290911"/>
                  </a:cubicBezTo>
                  <a:lnTo>
                    <a:pt x="76795" y="290911"/>
                  </a:lnTo>
                  <a:cubicBezTo>
                    <a:pt x="56428" y="290911"/>
                    <a:pt x="36895" y="282821"/>
                    <a:pt x="22493" y="268419"/>
                  </a:cubicBezTo>
                  <a:cubicBezTo>
                    <a:pt x="8091" y="254017"/>
                    <a:pt x="0" y="234484"/>
                    <a:pt x="0" y="214117"/>
                  </a:cubicBezTo>
                  <a:lnTo>
                    <a:pt x="0" y="76795"/>
                  </a:lnTo>
                  <a:cubicBezTo>
                    <a:pt x="0" y="56428"/>
                    <a:pt x="8091" y="36895"/>
                    <a:pt x="22493" y="22493"/>
                  </a:cubicBezTo>
                  <a:cubicBezTo>
                    <a:pt x="36895" y="8091"/>
                    <a:pt x="56428" y="0"/>
                    <a:pt x="76795" y="0"/>
                  </a:cubicBezTo>
                  <a:close/>
                </a:path>
              </a:pathLst>
            </a:custGeom>
            <a:solidFill>
              <a:srgbClr val="94A83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85725"/>
              <a:ext cx="739510" cy="376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699" b="1" dirty="0">
                  <a:solidFill>
                    <a:srgbClr val="000000"/>
                  </a:solidFill>
                  <a:latin typeface="Telegraf Medium"/>
                  <a:ea typeface="Telegraf Medium"/>
                  <a:cs typeface="Telegraf Medium"/>
                  <a:sym typeface="Telegraf Medium"/>
                </a:rPr>
                <a:t>1.</a:t>
              </a:r>
              <a:r>
                <a:rPr lang="en-US" sz="2699" b="1" i="1" dirty="0">
                  <a:solidFill>
                    <a:srgbClr val="000000"/>
                  </a:solidFill>
                  <a:latin typeface="Telegraf Medium"/>
                  <a:ea typeface="Telegraf Medium"/>
                  <a:cs typeface="Telegraf Medium"/>
                  <a:sym typeface="Telegraf Medium"/>
                </a:rPr>
                <a:t>Introduction &amp; </a:t>
              </a:r>
              <a:r>
                <a:rPr lang="en-US" sz="2699" b="1" i="1" dirty="0" err="1">
                  <a:solidFill>
                    <a:srgbClr val="000000"/>
                  </a:solidFill>
                  <a:latin typeface="Telegraf Medium"/>
                  <a:ea typeface="Telegraf Medium"/>
                  <a:cs typeface="Telegraf Medium"/>
                  <a:sym typeface="Telegraf Medium"/>
                </a:rPr>
                <a:t>objectifs</a:t>
              </a:r>
              <a:endParaRPr lang="en-US" sz="2699" b="1" i="1" dirty="0">
                <a:solidFill>
                  <a:srgbClr val="000000"/>
                </a:solidFill>
                <a:latin typeface="Telegraf Medium"/>
                <a:ea typeface="Telegraf Medium"/>
                <a:cs typeface="Telegraf Medium"/>
                <a:sym typeface="Telegraf Medium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082351" y="2189092"/>
            <a:ext cx="4738207" cy="1863936"/>
            <a:chOff x="0" y="0"/>
            <a:chExt cx="739510" cy="29091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39510" cy="290911"/>
            </a:xfrm>
            <a:custGeom>
              <a:avLst/>
              <a:gdLst/>
              <a:ahLst/>
              <a:cxnLst/>
              <a:rect l="l" t="t" r="r" b="b"/>
              <a:pathLst>
                <a:path w="739510" h="290911">
                  <a:moveTo>
                    <a:pt x="76795" y="0"/>
                  </a:moveTo>
                  <a:lnTo>
                    <a:pt x="662715" y="0"/>
                  </a:lnTo>
                  <a:cubicBezTo>
                    <a:pt x="683082" y="0"/>
                    <a:pt x="702615" y="8091"/>
                    <a:pt x="717017" y="22493"/>
                  </a:cubicBezTo>
                  <a:cubicBezTo>
                    <a:pt x="731419" y="36895"/>
                    <a:pt x="739510" y="56428"/>
                    <a:pt x="739510" y="76795"/>
                  </a:cubicBezTo>
                  <a:lnTo>
                    <a:pt x="739510" y="214117"/>
                  </a:lnTo>
                  <a:cubicBezTo>
                    <a:pt x="739510" y="234484"/>
                    <a:pt x="731419" y="254017"/>
                    <a:pt x="717017" y="268419"/>
                  </a:cubicBezTo>
                  <a:cubicBezTo>
                    <a:pt x="702615" y="282821"/>
                    <a:pt x="683082" y="290911"/>
                    <a:pt x="662715" y="290911"/>
                  </a:cubicBezTo>
                  <a:lnTo>
                    <a:pt x="76795" y="290911"/>
                  </a:lnTo>
                  <a:cubicBezTo>
                    <a:pt x="56428" y="290911"/>
                    <a:pt x="36895" y="282821"/>
                    <a:pt x="22493" y="268419"/>
                  </a:cubicBezTo>
                  <a:cubicBezTo>
                    <a:pt x="8091" y="254017"/>
                    <a:pt x="0" y="234484"/>
                    <a:pt x="0" y="214117"/>
                  </a:cubicBezTo>
                  <a:lnTo>
                    <a:pt x="0" y="76795"/>
                  </a:lnTo>
                  <a:cubicBezTo>
                    <a:pt x="0" y="56428"/>
                    <a:pt x="8091" y="36895"/>
                    <a:pt x="22493" y="22493"/>
                  </a:cubicBezTo>
                  <a:cubicBezTo>
                    <a:pt x="36895" y="8091"/>
                    <a:pt x="56428" y="0"/>
                    <a:pt x="76795" y="0"/>
                  </a:cubicBezTo>
                  <a:close/>
                </a:path>
              </a:pathLst>
            </a:custGeom>
            <a:solidFill>
              <a:srgbClr val="94A83A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85725"/>
              <a:ext cx="739510" cy="376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699" b="1">
                  <a:solidFill>
                    <a:srgbClr val="000000"/>
                  </a:solidFill>
                  <a:latin typeface="Telegraf Medium"/>
                  <a:ea typeface="Telegraf Medium"/>
                  <a:cs typeface="Telegraf Medium"/>
                  <a:sym typeface="Telegraf Medium"/>
                </a:rPr>
                <a:t>2.Problématique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136002" y="2189092"/>
            <a:ext cx="4870376" cy="1863936"/>
            <a:chOff x="0" y="0"/>
            <a:chExt cx="760138" cy="29091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60138" cy="290911"/>
            </a:xfrm>
            <a:custGeom>
              <a:avLst/>
              <a:gdLst/>
              <a:ahLst/>
              <a:cxnLst/>
              <a:rect l="l" t="t" r="r" b="b"/>
              <a:pathLst>
                <a:path w="760138" h="290911">
                  <a:moveTo>
                    <a:pt x="74711" y="0"/>
                  </a:moveTo>
                  <a:lnTo>
                    <a:pt x="685427" y="0"/>
                  </a:lnTo>
                  <a:cubicBezTo>
                    <a:pt x="705242" y="0"/>
                    <a:pt x="724245" y="7871"/>
                    <a:pt x="738256" y="21882"/>
                  </a:cubicBezTo>
                  <a:cubicBezTo>
                    <a:pt x="752267" y="35893"/>
                    <a:pt x="760138" y="54896"/>
                    <a:pt x="760138" y="74711"/>
                  </a:cubicBezTo>
                  <a:lnTo>
                    <a:pt x="760138" y="216201"/>
                  </a:lnTo>
                  <a:cubicBezTo>
                    <a:pt x="760138" y="236015"/>
                    <a:pt x="752267" y="255018"/>
                    <a:pt x="738256" y="269029"/>
                  </a:cubicBezTo>
                  <a:cubicBezTo>
                    <a:pt x="724245" y="283040"/>
                    <a:pt x="705242" y="290911"/>
                    <a:pt x="685427" y="290911"/>
                  </a:cubicBezTo>
                  <a:lnTo>
                    <a:pt x="74711" y="290911"/>
                  </a:lnTo>
                  <a:cubicBezTo>
                    <a:pt x="54896" y="290911"/>
                    <a:pt x="35893" y="283040"/>
                    <a:pt x="21882" y="269029"/>
                  </a:cubicBezTo>
                  <a:cubicBezTo>
                    <a:pt x="7871" y="255018"/>
                    <a:pt x="0" y="236015"/>
                    <a:pt x="0" y="216201"/>
                  </a:cubicBezTo>
                  <a:lnTo>
                    <a:pt x="0" y="74711"/>
                  </a:lnTo>
                  <a:cubicBezTo>
                    <a:pt x="0" y="54896"/>
                    <a:pt x="7871" y="35893"/>
                    <a:pt x="21882" y="21882"/>
                  </a:cubicBezTo>
                  <a:cubicBezTo>
                    <a:pt x="35893" y="7871"/>
                    <a:pt x="54896" y="0"/>
                    <a:pt x="74711" y="0"/>
                  </a:cubicBezTo>
                  <a:close/>
                </a:path>
              </a:pathLst>
            </a:custGeom>
            <a:solidFill>
              <a:srgbClr val="94A83A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85725"/>
              <a:ext cx="760138" cy="376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699" b="1">
                  <a:solidFill>
                    <a:srgbClr val="000000"/>
                  </a:solidFill>
                  <a:latin typeface="Telegraf Medium"/>
                  <a:ea typeface="Telegraf Medium"/>
                  <a:cs typeface="Telegraf Medium"/>
                  <a:sym typeface="Telegraf Medium"/>
                </a:rPr>
                <a:t>3.Fonctionnalités principales 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28700" y="4456189"/>
            <a:ext cx="4738207" cy="1863936"/>
            <a:chOff x="0" y="0"/>
            <a:chExt cx="739510" cy="29091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39510" cy="290911"/>
            </a:xfrm>
            <a:custGeom>
              <a:avLst/>
              <a:gdLst/>
              <a:ahLst/>
              <a:cxnLst/>
              <a:rect l="l" t="t" r="r" b="b"/>
              <a:pathLst>
                <a:path w="739510" h="290911">
                  <a:moveTo>
                    <a:pt x="76795" y="0"/>
                  </a:moveTo>
                  <a:lnTo>
                    <a:pt x="662715" y="0"/>
                  </a:lnTo>
                  <a:cubicBezTo>
                    <a:pt x="683082" y="0"/>
                    <a:pt x="702615" y="8091"/>
                    <a:pt x="717017" y="22493"/>
                  </a:cubicBezTo>
                  <a:cubicBezTo>
                    <a:pt x="731419" y="36895"/>
                    <a:pt x="739510" y="56428"/>
                    <a:pt x="739510" y="76795"/>
                  </a:cubicBezTo>
                  <a:lnTo>
                    <a:pt x="739510" y="214117"/>
                  </a:lnTo>
                  <a:cubicBezTo>
                    <a:pt x="739510" y="234484"/>
                    <a:pt x="731419" y="254017"/>
                    <a:pt x="717017" y="268419"/>
                  </a:cubicBezTo>
                  <a:cubicBezTo>
                    <a:pt x="702615" y="282821"/>
                    <a:pt x="683082" y="290911"/>
                    <a:pt x="662715" y="290911"/>
                  </a:cubicBezTo>
                  <a:lnTo>
                    <a:pt x="76795" y="290911"/>
                  </a:lnTo>
                  <a:cubicBezTo>
                    <a:pt x="56428" y="290911"/>
                    <a:pt x="36895" y="282821"/>
                    <a:pt x="22493" y="268419"/>
                  </a:cubicBezTo>
                  <a:cubicBezTo>
                    <a:pt x="8091" y="254017"/>
                    <a:pt x="0" y="234484"/>
                    <a:pt x="0" y="214117"/>
                  </a:cubicBezTo>
                  <a:lnTo>
                    <a:pt x="0" y="76795"/>
                  </a:lnTo>
                  <a:cubicBezTo>
                    <a:pt x="0" y="56428"/>
                    <a:pt x="8091" y="36895"/>
                    <a:pt x="22493" y="22493"/>
                  </a:cubicBezTo>
                  <a:cubicBezTo>
                    <a:pt x="36895" y="8091"/>
                    <a:pt x="56428" y="0"/>
                    <a:pt x="76795" y="0"/>
                  </a:cubicBezTo>
                  <a:close/>
                </a:path>
              </a:pathLst>
            </a:custGeom>
            <a:solidFill>
              <a:srgbClr val="94A83A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85725"/>
              <a:ext cx="739510" cy="376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699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4.</a:t>
              </a:r>
              <a:r>
                <a:rPr lang="en-US" sz="2699" b="1" i="1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Choix techniques 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082351" y="4456189"/>
            <a:ext cx="4738207" cy="1863936"/>
            <a:chOff x="0" y="0"/>
            <a:chExt cx="739510" cy="29091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39510" cy="290911"/>
            </a:xfrm>
            <a:custGeom>
              <a:avLst/>
              <a:gdLst/>
              <a:ahLst/>
              <a:cxnLst/>
              <a:rect l="l" t="t" r="r" b="b"/>
              <a:pathLst>
                <a:path w="739510" h="290911">
                  <a:moveTo>
                    <a:pt x="76795" y="0"/>
                  </a:moveTo>
                  <a:lnTo>
                    <a:pt x="662715" y="0"/>
                  </a:lnTo>
                  <a:cubicBezTo>
                    <a:pt x="683082" y="0"/>
                    <a:pt x="702615" y="8091"/>
                    <a:pt x="717017" y="22493"/>
                  </a:cubicBezTo>
                  <a:cubicBezTo>
                    <a:pt x="731419" y="36895"/>
                    <a:pt x="739510" y="56428"/>
                    <a:pt x="739510" y="76795"/>
                  </a:cubicBezTo>
                  <a:lnTo>
                    <a:pt x="739510" y="214117"/>
                  </a:lnTo>
                  <a:cubicBezTo>
                    <a:pt x="739510" y="234484"/>
                    <a:pt x="731419" y="254017"/>
                    <a:pt x="717017" y="268419"/>
                  </a:cubicBezTo>
                  <a:cubicBezTo>
                    <a:pt x="702615" y="282821"/>
                    <a:pt x="683082" y="290911"/>
                    <a:pt x="662715" y="290911"/>
                  </a:cubicBezTo>
                  <a:lnTo>
                    <a:pt x="76795" y="290911"/>
                  </a:lnTo>
                  <a:cubicBezTo>
                    <a:pt x="56428" y="290911"/>
                    <a:pt x="36895" y="282821"/>
                    <a:pt x="22493" y="268419"/>
                  </a:cubicBezTo>
                  <a:cubicBezTo>
                    <a:pt x="8091" y="254017"/>
                    <a:pt x="0" y="234484"/>
                    <a:pt x="0" y="214117"/>
                  </a:cubicBezTo>
                  <a:lnTo>
                    <a:pt x="0" y="76795"/>
                  </a:lnTo>
                  <a:cubicBezTo>
                    <a:pt x="0" y="56428"/>
                    <a:pt x="8091" y="36895"/>
                    <a:pt x="22493" y="22493"/>
                  </a:cubicBezTo>
                  <a:cubicBezTo>
                    <a:pt x="36895" y="8091"/>
                    <a:pt x="56428" y="0"/>
                    <a:pt x="76795" y="0"/>
                  </a:cubicBezTo>
                  <a:close/>
                </a:path>
              </a:pathLst>
            </a:custGeom>
            <a:solidFill>
              <a:srgbClr val="94A83A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85725"/>
              <a:ext cx="739510" cy="376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Telegraf Medium"/>
                  <a:ea typeface="Telegraf Medium"/>
                  <a:cs typeface="Telegraf Medium"/>
                  <a:sym typeface="Telegraf Medium"/>
                </a:rPr>
                <a:t>5.Réalisation(démonstration) 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1136002" y="4426265"/>
            <a:ext cx="4870376" cy="1863936"/>
            <a:chOff x="0" y="0"/>
            <a:chExt cx="760138" cy="29091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60138" cy="290911"/>
            </a:xfrm>
            <a:custGeom>
              <a:avLst/>
              <a:gdLst/>
              <a:ahLst/>
              <a:cxnLst/>
              <a:rect l="l" t="t" r="r" b="b"/>
              <a:pathLst>
                <a:path w="760138" h="290911">
                  <a:moveTo>
                    <a:pt x="74711" y="0"/>
                  </a:moveTo>
                  <a:lnTo>
                    <a:pt x="685427" y="0"/>
                  </a:lnTo>
                  <a:cubicBezTo>
                    <a:pt x="705242" y="0"/>
                    <a:pt x="724245" y="7871"/>
                    <a:pt x="738256" y="21882"/>
                  </a:cubicBezTo>
                  <a:cubicBezTo>
                    <a:pt x="752267" y="35893"/>
                    <a:pt x="760138" y="54896"/>
                    <a:pt x="760138" y="74711"/>
                  </a:cubicBezTo>
                  <a:lnTo>
                    <a:pt x="760138" y="216201"/>
                  </a:lnTo>
                  <a:cubicBezTo>
                    <a:pt x="760138" y="236015"/>
                    <a:pt x="752267" y="255018"/>
                    <a:pt x="738256" y="269029"/>
                  </a:cubicBezTo>
                  <a:cubicBezTo>
                    <a:pt x="724245" y="283040"/>
                    <a:pt x="705242" y="290911"/>
                    <a:pt x="685427" y="290911"/>
                  </a:cubicBezTo>
                  <a:lnTo>
                    <a:pt x="74711" y="290911"/>
                  </a:lnTo>
                  <a:cubicBezTo>
                    <a:pt x="54896" y="290911"/>
                    <a:pt x="35893" y="283040"/>
                    <a:pt x="21882" y="269029"/>
                  </a:cubicBezTo>
                  <a:cubicBezTo>
                    <a:pt x="7871" y="255018"/>
                    <a:pt x="0" y="236015"/>
                    <a:pt x="0" y="216201"/>
                  </a:cubicBezTo>
                  <a:lnTo>
                    <a:pt x="0" y="74711"/>
                  </a:lnTo>
                  <a:cubicBezTo>
                    <a:pt x="0" y="54896"/>
                    <a:pt x="7871" y="35893"/>
                    <a:pt x="21882" y="21882"/>
                  </a:cubicBezTo>
                  <a:cubicBezTo>
                    <a:pt x="35893" y="7871"/>
                    <a:pt x="54896" y="0"/>
                    <a:pt x="74711" y="0"/>
                  </a:cubicBezTo>
                  <a:close/>
                </a:path>
              </a:pathLst>
            </a:custGeom>
            <a:solidFill>
              <a:srgbClr val="94A83A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85725"/>
              <a:ext cx="760138" cy="376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699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6.</a:t>
              </a:r>
              <a:r>
                <a:rPr lang="en-US" sz="2699" b="1" i="1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Difficultés rencontrées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585379" y="6691600"/>
            <a:ext cx="6148005" cy="1863936"/>
            <a:chOff x="0" y="0"/>
            <a:chExt cx="959542" cy="29091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59542" cy="290911"/>
            </a:xfrm>
            <a:custGeom>
              <a:avLst/>
              <a:gdLst/>
              <a:ahLst/>
              <a:cxnLst/>
              <a:rect l="l" t="t" r="r" b="b"/>
              <a:pathLst>
                <a:path w="959542" h="290911">
                  <a:moveTo>
                    <a:pt x="59185" y="0"/>
                  </a:moveTo>
                  <a:lnTo>
                    <a:pt x="900357" y="0"/>
                  </a:lnTo>
                  <a:cubicBezTo>
                    <a:pt x="916054" y="0"/>
                    <a:pt x="931108" y="6236"/>
                    <a:pt x="942207" y="17335"/>
                  </a:cubicBezTo>
                  <a:cubicBezTo>
                    <a:pt x="953307" y="28434"/>
                    <a:pt x="959542" y="43488"/>
                    <a:pt x="959542" y="59185"/>
                  </a:cubicBezTo>
                  <a:lnTo>
                    <a:pt x="959542" y="231726"/>
                  </a:lnTo>
                  <a:cubicBezTo>
                    <a:pt x="959542" y="247423"/>
                    <a:pt x="953307" y="262477"/>
                    <a:pt x="942207" y="273577"/>
                  </a:cubicBezTo>
                  <a:cubicBezTo>
                    <a:pt x="931108" y="284676"/>
                    <a:pt x="916054" y="290911"/>
                    <a:pt x="900357" y="290911"/>
                  </a:cubicBezTo>
                  <a:lnTo>
                    <a:pt x="59185" y="290911"/>
                  </a:lnTo>
                  <a:cubicBezTo>
                    <a:pt x="43488" y="290911"/>
                    <a:pt x="28434" y="284676"/>
                    <a:pt x="17335" y="273577"/>
                  </a:cubicBezTo>
                  <a:cubicBezTo>
                    <a:pt x="6236" y="262477"/>
                    <a:pt x="0" y="247423"/>
                    <a:pt x="0" y="231726"/>
                  </a:cubicBezTo>
                  <a:lnTo>
                    <a:pt x="0" y="59185"/>
                  </a:lnTo>
                  <a:cubicBezTo>
                    <a:pt x="0" y="43488"/>
                    <a:pt x="6236" y="28434"/>
                    <a:pt x="17335" y="17335"/>
                  </a:cubicBezTo>
                  <a:cubicBezTo>
                    <a:pt x="28434" y="6236"/>
                    <a:pt x="43488" y="0"/>
                    <a:pt x="59185" y="0"/>
                  </a:cubicBezTo>
                  <a:close/>
                </a:path>
              </a:pathLst>
            </a:custGeom>
            <a:solidFill>
              <a:srgbClr val="94A83A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85725"/>
              <a:ext cx="959542" cy="376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699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7.</a:t>
              </a:r>
              <a:r>
                <a:rPr lang="en-US" sz="2699" b="1" i="1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Bilan &amp; améliorations possibles 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3413087" y="435684"/>
            <a:ext cx="10492588" cy="1055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77"/>
              </a:lnSpc>
              <a:spcBef>
                <a:spcPct val="0"/>
              </a:spcBef>
            </a:pPr>
            <a:r>
              <a:rPr lang="en-US" sz="6989" b="1" i="1" dirty="0">
                <a:solidFill>
                  <a:srgbClr val="FFFFFF"/>
                </a:solidFill>
                <a:latin typeface="Barlow Bold Italics"/>
                <a:ea typeface="Barlow Bold Italics"/>
                <a:cs typeface="Barlow Bold Italics"/>
                <a:sym typeface="Barlow Bold Italics"/>
              </a:rPr>
              <a:t>Plan de presentation: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668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07559"/>
            <a:ext cx="7976337" cy="1279796"/>
            <a:chOff x="0" y="0"/>
            <a:chExt cx="2100764" cy="3370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0764" cy="337066"/>
            </a:xfrm>
            <a:custGeom>
              <a:avLst/>
              <a:gdLst/>
              <a:ahLst/>
              <a:cxnLst/>
              <a:rect l="l" t="t" r="r" b="b"/>
              <a:pathLst>
                <a:path w="2100764" h="337066">
                  <a:moveTo>
                    <a:pt x="49501" y="0"/>
                  </a:moveTo>
                  <a:lnTo>
                    <a:pt x="2051262" y="0"/>
                  </a:lnTo>
                  <a:cubicBezTo>
                    <a:pt x="2078601" y="0"/>
                    <a:pt x="2100764" y="22162"/>
                    <a:pt x="2100764" y="49501"/>
                  </a:cubicBezTo>
                  <a:lnTo>
                    <a:pt x="2100764" y="287565"/>
                  </a:lnTo>
                  <a:cubicBezTo>
                    <a:pt x="2100764" y="300693"/>
                    <a:pt x="2095548" y="313284"/>
                    <a:pt x="2086265" y="322567"/>
                  </a:cubicBezTo>
                  <a:cubicBezTo>
                    <a:pt x="2076982" y="331850"/>
                    <a:pt x="2064391" y="337066"/>
                    <a:pt x="2051262" y="337066"/>
                  </a:cubicBezTo>
                  <a:lnTo>
                    <a:pt x="49501" y="337066"/>
                  </a:lnTo>
                  <a:cubicBezTo>
                    <a:pt x="22162" y="337066"/>
                    <a:pt x="0" y="314903"/>
                    <a:pt x="0" y="287565"/>
                  </a:cubicBezTo>
                  <a:lnTo>
                    <a:pt x="0" y="49501"/>
                  </a:lnTo>
                  <a:cubicBezTo>
                    <a:pt x="0" y="22162"/>
                    <a:pt x="22162" y="0"/>
                    <a:pt x="49501" y="0"/>
                  </a:cubicBezTo>
                  <a:close/>
                </a:path>
              </a:pathLst>
            </a:custGeom>
            <a:solidFill>
              <a:srgbClr val="94A83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100764" cy="3846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001461" y="1537589"/>
            <a:ext cx="7117241" cy="1279796"/>
            <a:chOff x="0" y="0"/>
            <a:chExt cx="1874500" cy="33706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74500" cy="337066"/>
            </a:xfrm>
            <a:custGeom>
              <a:avLst/>
              <a:gdLst/>
              <a:ahLst/>
              <a:cxnLst/>
              <a:rect l="l" t="t" r="r" b="b"/>
              <a:pathLst>
                <a:path w="1874500" h="337066">
                  <a:moveTo>
                    <a:pt x="55476" y="0"/>
                  </a:moveTo>
                  <a:lnTo>
                    <a:pt x="1819023" y="0"/>
                  </a:lnTo>
                  <a:cubicBezTo>
                    <a:pt x="1849662" y="0"/>
                    <a:pt x="1874500" y="24838"/>
                    <a:pt x="1874500" y="55476"/>
                  </a:cubicBezTo>
                  <a:lnTo>
                    <a:pt x="1874500" y="281589"/>
                  </a:lnTo>
                  <a:cubicBezTo>
                    <a:pt x="1874500" y="296303"/>
                    <a:pt x="1868655" y="310413"/>
                    <a:pt x="1858251" y="320817"/>
                  </a:cubicBezTo>
                  <a:cubicBezTo>
                    <a:pt x="1847847" y="331221"/>
                    <a:pt x="1833737" y="337066"/>
                    <a:pt x="1819023" y="337066"/>
                  </a:cubicBezTo>
                  <a:lnTo>
                    <a:pt x="55476" y="337066"/>
                  </a:lnTo>
                  <a:cubicBezTo>
                    <a:pt x="24838" y="337066"/>
                    <a:pt x="0" y="312228"/>
                    <a:pt x="0" y="281589"/>
                  </a:cubicBezTo>
                  <a:lnTo>
                    <a:pt x="0" y="55476"/>
                  </a:lnTo>
                  <a:cubicBezTo>
                    <a:pt x="0" y="24838"/>
                    <a:pt x="24838" y="0"/>
                    <a:pt x="55476" y="0"/>
                  </a:cubicBezTo>
                  <a:close/>
                </a:path>
              </a:pathLst>
            </a:custGeom>
            <a:solidFill>
              <a:srgbClr val="94A83A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874500" cy="3846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2447359" y="1537589"/>
            <a:ext cx="1129911" cy="1335198"/>
          </a:xfrm>
          <a:custGeom>
            <a:avLst/>
            <a:gdLst/>
            <a:ahLst/>
            <a:cxnLst/>
            <a:rect l="l" t="t" r="r" b="b"/>
            <a:pathLst>
              <a:path w="1129911" h="1335198">
                <a:moveTo>
                  <a:pt x="0" y="0"/>
                </a:moveTo>
                <a:lnTo>
                  <a:pt x="1129911" y="0"/>
                </a:lnTo>
                <a:lnTo>
                  <a:pt x="1129911" y="1335198"/>
                </a:lnTo>
                <a:lnTo>
                  <a:pt x="0" y="13351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028700" y="2969785"/>
            <a:ext cx="3585330" cy="2558656"/>
            <a:chOff x="0" y="0"/>
            <a:chExt cx="113894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38940" cy="812800"/>
            </a:xfrm>
            <a:custGeom>
              <a:avLst/>
              <a:gdLst/>
              <a:ahLst/>
              <a:cxnLst/>
              <a:rect l="l" t="t" r="r" b="b"/>
              <a:pathLst>
                <a:path w="1138940" h="812800">
                  <a:moveTo>
                    <a:pt x="569470" y="0"/>
                  </a:moveTo>
                  <a:cubicBezTo>
                    <a:pt x="254960" y="0"/>
                    <a:pt x="0" y="181951"/>
                    <a:pt x="0" y="406400"/>
                  </a:cubicBezTo>
                  <a:cubicBezTo>
                    <a:pt x="0" y="630849"/>
                    <a:pt x="254960" y="812800"/>
                    <a:pt x="569470" y="812800"/>
                  </a:cubicBezTo>
                  <a:cubicBezTo>
                    <a:pt x="883980" y="812800"/>
                    <a:pt x="1138940" y="630849"/>
                    <a:pt x="1138940" y="406400"/>
                  </a:cubicBezTo>
                  <a:cubicBezTo>
                    <a:pt x="1138940" y="181951"/>
                    <a:pt x="883980" y="0"/>
                    <a:pt x="569470" y="0"/>
                  </a:cubicBezTo>
                  <a:close/>
                </a:path>
              </a:pathLst>
            </a:custGeom>
            <a:solidFill>
              <a:srgbClr val="94A83A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06776" y="28575"/>
              <a:ext cx="925389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321458" y="351915"/>
            <a:ext cx="6936915" cy="676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1"/>
              </a:lnSpc>
              <a:spcBef>
                <a:spcPct val="0"/>
              </a:spcBef>
            </a:pPr>
            <a:r>
              <a:rPr lang="en-US" sz="3729" b="1">
                <a:solidFill>
                  <a:srgbClr val="000000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1.Introduction &amp; objectifs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190750" y="1781945"/>
            <a:ext cx="7069084" cy="676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1"/>
              </a:lnSpc>
              <a:spcBef>
                <a:spcPct val="0"/>
              </a:spcBef>
            </a:pPr>
            <a:r>
              <a:rPr lang="en-US" sz="3729" b="1">
                <a:solidFill>
                  <a:srgbClr val="000000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Pourquoi ce projet ?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36616" y="3372404"/>
            <a:ext cx="2769499" cy="1771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9"/>
              </a:lnSpc>
              <a:spcBef>
                <a:spcPct val="0"/>
              </a:spcBef>
            </a:pPr>
            <a:r>
              <a:rPr lang="en-US" sz="2477" b="1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Faciliter l’accès à des informations fiables pour les investisseurs.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5190750" y="2969785"/>
            <a:ext cx="3585330" cy="2558656"/>
            <a:chOff x="0" y="0"/>
            <a:chExt cx="113894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38940" cy="812800"/>
            </a:xfrm>
            <a:custGeom>
              <a:avLst/>
              <a:gdLst/>
              <a:ahLst/>
              <a:cxnLst/>
              <a:rect l="l" t="t" r="r" b="b"/>
              <a:pathLst>
                <a:path w="1138940" h="812800">
                  <a:moveTo>
                    <a:pt x="569470" y="0"/>
                  </a:moveTo>
                  <a:cubicBezTo>
                    <a:pt x="254960" y="0"/>
                    <a:pt x="0" y="181951"/>
                    <a:pt x="0" y="406400"/>
                  </a:cubicBezTo>
                  <a:cubicBezTo>
                    <a:pt x="0" y="630849"/>
                    <a:pt x="254960" y="812800"/>
                    <a:pt x="569470" y="812800"/>
                  </a:cubicBezTo>
                  <a:cubicBezTo>
                    <a:pt x="883980" y="812800"/>
                    <a:pt x="1138940" y="630849"/>
                    <a:pt x="1138940" y="406400"/>
                  </a:cubicBezTo>
                  <a:cubicBezTo>
                    <a:pt x="1138940" y="181951"/>
                    <a:pt x="883980" y="0"/>
                    <a:pt x="569470" y="0"/>
                  </a:cubicBezTo>
                  <a:close/>
                </a:path>
              </a:pathLst>
            </a:custGeom>
            <a:solidFill>
              <a:srgbClr val="94A83A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106776" y="28575"/>
              <a:ext cx="925389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5543350" y="3361400"/>
            <a:ext cx="2880131" cy="1699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0"/>
              </a:lnSpc>
              <a:spcBef>
                <a:spcPct val="0"/>
              </a:spcBef>
            </a:pPr>
            <a:r>
              <a:rPr lang="en-US" sz="2386" b="1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Accompagner les investisseurs dans leurs démarches immobilières.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9566189" y="3052658"/>
            <a:ext cx="3585330" cy="2558656"/>
            <a:chOff x="0" y="0"/>
            <a:chExt cx="113894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138940" cy="812800"/>
            </a:xfrm>
            <a:custGeom>
              <a:avLst/>
              <a:gdLst/>
              <a:ahLst/>
              <a:cxnLst/>
              <a:rect l="l" t="t" r="r" b="b"/>
              <a:pathLst>
                <a:path w="1138940" h="812800">
                  <a:moveTo>
                    <a:pt x="569470" y="0"/>
                  </a:moveTo>
                  <a:cubicBezTo>
                    <a:pt x="254960" y="0"/>
                    <a:pt x="0" y="181951"/>
                    <a:pt x="0" y="406400"/>
                  </a:cubicBezTo>
                  <a:cubicBezTo>
                    <a:pt x="0" y="630849"/>
                    <a:pt x="254960" y="812800"/>
                    <a:pt x="569470" y="812800"/>
                  </a:cubicBezTo>
                  <a:cubicBezTo>
                    <a:pt x="883980" y="812800"/>
                    <a:pt x="1138940" y="630849"/>
                    <a:pt x="1138940" y="406400"/>
                  </a:cubicBezTo>
                  <a:cubicBezTo>
                    <a:pt x="1138940" y="181951"/>
                    <a:pt x="883980" y="0"/>
                    <a:pt x="569470" y="0"/>
                  </a:cubicBezTo>
                  <a:close/>
                </a:path>
              </a:pathLst>
            </a:custGeom>
            <a:solidFill>
              <a:srgbClr val="94A83A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106776" y="28575"/>
              <a:ext cx="925389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9918789" y="3560646"/>
            <a:ext cx="2880131" cy="1699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0"/>
              </a:lnSpc>
              <a:spcBef>
                <a:spcPct val="0"/>
              </a:spcBef>
            </a:pPr>
            <a:r>
              <a:rPr lang="en-US" sz="2386" b="1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Accompagner les investisseurs dans leurs démarches immobilières.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3608716" y="3052658"/>
            <a:ext cx="3717499" cy="2558656"/>
            <a:chOff x="0" y="0"/>
            <a:chExt cx="1180926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180926" cy="812800"/>
            </a:xfrm>
            <a:custGeom>
              <a:avLst/>
              <a:gdLst/>
              <a:ahLst/>
              <a:cxnLst/>
              <a:rect l="l" t="t" r="r" b="b"/>
              <a:pathLst>
                <a:path w="1180926" h="812800">
                  <a:moveTo>
                    <a:pt x="590463" y="0"/>
                  </a:moveTo>
                  <a:cubicBezTo>
                    <a:pt x="264359" y="0"/>
                    <a:pt x="0" y="181951"/>
                    <a:pt x="0" y="406400"/>
                  </a:cubicBezTo>
                  <a:cubicBezTo>
                    <a:pt x="0" y="630849"/>
                    <a:pt x="264359" y="812800"/>
                    <a:pt x="590463" y="812800"/>
                  </a:cubicBezTo>
                  <a:cubicBezTo>
                    <a:pt x="916567" y="812800"/>
                    <a:pt x="1180926" y="630849"/>
                    <a:pt x="1180926" y="406400"/>
                  </a:cubicBezTo>
                  <a:cubicBezTo>
                    <a:pt x="1180926" y="181951"/>
                    <a:pt x="916567" y="0"/>
                    <a:pt x="590463" y="0"/>
                  </a:cubicBezTo>
                  <a:close/>
                </a:path>
              </a:pathLst>
            </a:custGeom>
            <a:solidFill>
              <a:srgbClr val="94A83A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110712" y="28575"/>
              <a:ext cx="959502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4109051" y="3589221"/>
            <a:ext cx="2716829" cy="1614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37"/>
              </a:lnSpc>
              <a:spcBef>
                <a:spcPct val="0"/>
              </a:spcBef>
            </a:pPr>
            <a:r>
              <a:rPr lang="en-US" sz="1526" b="1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Contribuer à la digitalisation du secteur immobilier marocain, notamment dans le contexte des opportunités liées à la Coupe du Monde 2030.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7493751" y="5849440"/>
            <a:ext cx="3585330" cy="2558656"/>
            <a:chOff x="0" y="0"/>
            <a:chExt cx="113894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138940" cy="812800"/>
            </a:xfrm>
            <a:custGeom>
              <a:avLst/>
              <a:gdLst/>
              <a:ahLst/>
              <a:cxnLst/>
              <a:rect l="l" t="t" r="r" b="b"/>
              <a:pathLst>
                <a:path w="1138940" h="812800">
                  <a:moveTo>
                    <a:pt x="569470" y="0"/>
                  </a:moveTo>
                  <a:cubicBezTo>
                    <a:pt x="254960" y="0"/>
                    <a:pt x="0" y="181951"/>
                    <a:pt x="0" y="406400"/>
                  </a:cubicBezTo>
                  <a:cubicBezTo>
                    <a:pt x="0" y="630849"/>
                    <a:pt x="254960" y="812800"/>
                    <a:pt x="569470" y="812800"/>
                  </a:cubicBezTo>
                  <a:cubicBezTo>
                    <a:pt x="883980" y="812800"/>
                    <a:pt x="1138940" y="630849"/>
                    <a:pt x="1138940" y="406400"/>
                  </a:cubicBezTo>
                  <a:cubicBezTo>
                    <a:pt x="1138940" y="181951"/>
                    <a:pt x="883980" y="0"/>
                    <a:pt x="569470" y="0"/>
                  </a:cubicBezTo>
                  <a:close/>
                </a:path>
              </a:pathLst>
            </a:custGeom>
            <a:solidFill>
              <a:srgbClr val="94A83A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106776" y="28575"/>
              <a:ext cx="925389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7846351" y="6241054"/>
            <a:ext cx="2880131" cy="1699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0"/>
              </a:lnSpc>
              <a:spcBef>
                <a:spcPct val="0"/>
              </a:spcBef>
            </a:pPr>
            <a:r>
              <a:rPr lang="en-US" sz="2386" b="1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Répondre à un besoin réel identifié sur le marché marocain.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668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001461" y="1537589"/>
            <a:ext cx="7117241" cy="1279796"/>
            <a:chOff x="0" y="0"/>
            <a:chExt cx="1874500" cy="3370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74500" cy="337066"/>
            </a:xfrm>
            <a:custGeom>
              <a:avLst/>
              <a:gdLst/>
              <a:ahLst/>
              <a:cxnLst/>
              <a:rect l="l" t="t" r="r" b="b"/>
              <a:pathLst>
                <a:path w="1874500" h="337066">
                  <a:moveTo>
                    <a:pt x="55476" y="0"/>
                  </a:moveTo>
                  <a:lnTo>
                    <a:pt x="1819023" y="0"/>
                  </a:lnTo>
                  <a:cubicBezTo>
                    <a:pt x="1849662" y="0"/>
                    <a:pt x="1874500" y="24838"/>
                    <a:pt x="1874500" y="55476"/>
                  </a:cubicBezTo>
                  <a:lnTo>
                    <a:pt x="1874500" y="281589"/>
                  </a:lnTo>
                  <a:cubicBezTo>
                    <a:pt x="1874500" y="296303"/>
                    <a:pt x="1868655" y="310413"/>
                    <a:pt x="1858251" y="320817"/>
                  </a:cubicBezTo>
                  <a:cubicBezTo>
                    <a:pt x="1847847" y="331221"/>
                    <a:pt x="1833737" y="337066"/>
                    <a:pt x="1819023" y="337066"/>
                  </a:cubicBezTo>
                  <a:lnTo>
                    <a:pt x="55476" y="337066"/>
                  </a:lnTo>
                  <a:cubicBezTo>
                    <a:pt x="24838" y="337066"/>
                    <a:pt x="0" y="312228"/>
                    <a:pt x="0" y="281589"/>
                  </a:cubicBezTo>
                  <a:lnTo>
                    <a:pt x="0" y="55476"/>
                  </a:lnTo>
                  <a:cubicBezTo>
                    <a:pt x="0" y="24838"/>
                    <a:pt x="24838" y="0"/>
                    <a:pt x="55476" y="0"/>
                  </a:cubicBezTo>
                  <a:close/>
                </a:path>
              </a:pathLst>
            </a:custGeom>
            <a:solidFill>
              <a:srgbClr val="94A83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874500" cy="3846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78042" y="3059694"/>
            <a:ext cx="4082471" cy="2913439"/>
            <a:chOff x="0" y="0"/>
            <a:chExt cx="113894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38940" cy="812800"/>
            </a:xfrm>
            <a:custGeom>
              <a:avLst/>
              <a:gdLst/>
              <a:ahLst/>
              <a:cxnLst/>
              <a:rect l="l" t="t" r="r" b="b"/>
              <a:pathLst>
                <a:path w="1138940" h="812800">
                  <a:moveTo>
                    <a:pt x="569470" y="0"/>
                  </a:moveTo>
                  <a:cubicBezTo>
                    <a:pt x="254960" y="0"/>
                    <a:pt x="0" y="181951"/>
                    <a:pt x="0" y="406400"/>
                  </a:cubicBezTo>
                  <a:cubicBezTo>
                    <a:pt x="0" y="630849"/>
                    <a:pt x="254960" y="812800"/>
                    <a:pt x="569470" y="812800"/>
                  </a:cubicBezTo>
                  <a:cubicBezTo>
                    <a:pt x="883980" y="812800"/>
                    <a:pt x="1138940" y="630849"/>
                    <a:pt x="1138940" y="406400"/>
                  </a:cubicBezTo>
                  <a:cubicBezTo>
                    <a:pt x="1138940" y="181951"/>
                    <a:pt x="883980" y="0"/>
                    <a:pt x="569470" y="0"/>
                  </a:cubicBezTo>
                  <a:close/>
                </a:path>
              </a:pathLst>
            </a:custGeom>
            <a:solidFill>
              <a:srgbClr val="94A83A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06776" y="28575"/>
              <a:ext cx="925389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477611" y="3059694"/>
            <a:ext cx="4082471" cy="2913439"/>
            <a:chOff x="0" y="0"/>
            <a:chExt cx="113894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38940" cy="812800"/>
            </a:xfrm>
            <a:custGeom>
              <a:avLst/>
              <a:gdLst/>
              <a:ahLst/>
              <a:cxnLst/>
              <a:rect l="l" t="t" r="r" b="b"/>
              <a:pathLst>
                <a:path w="1138940" h="812800">
                  <a:moveTo>
                    <a:pt x="569470" y="0"/>
                  </a:moveTo>
                  <a:cubicBezTo>
                    <a:pt x="254960" y="0"/>
                    <a:pt x="0" y="181951"/>
                    <a:pt x="0" y="406400"/>
                  </a:cubicBezTo>
                  <a:cubicBezTo>
                    <a:pt x="0" y="630849"/>
                    <a:pt x="254960" y="812800"/>
                    <a:pt x="569470" y="812800"/>
                  </a:cubicBezTo>
                  <a:cubicBezTo>
                    <a:pt x="883980" y="812800"/>
                    <a:pt x="1138940" y="630849"/>
                    <a:pt x="1138940" y="406400"/>
                  </a:cubicBezTo>
                  <a:cubicBezTo>
                    <a:pt x="1138940" y="181951"/>
                    <a:pt x="883980" y="0"/>
                    <a:pt x="569470" y="0"/>
                  </a:cubicBezTo>
                  <a:close/>
                </a:path>
              </a:pathLst>
            </a:custGeom>
            <a:solidFill>
              <a:srgbClr val="94A83A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06776" y="28575"/>
              <a:ext cx="925389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674382" y="3059694"/>
            <a:ext cx="4082471" cy="2913439"/>
            <a:chOff x="0" y="0"/>
            <a:chExt cx="113894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38940" cy="812800"/>
            </a:xfrm>
            <a:custGeom>
              <a:avLst/>
              <a:gdLst/>
              <a:ahLst/>
              <a:cxnLst/>
              <a:rect l="l" t="t" r="r" b="b"/>
              <a:pathLst>
                <a:path w="1138940" h="812800">
                  <a:moveTo>
                    <a:pt x="569470" y="0"/>
                  </a:moveTo>
                  <a:cubicBezTo>
                    <a:pt x="254960" y="0"/>
                    <a:pt x="0" y="181951"/>
                    <a:pt x="0" y="406400"/>
                  </a:cubicBezTo>
                  <a:cubicBezTo>
                    <a:pt x="0" y="630849"/>
                    <a:pt x="254960" y="812800"/>
                    <a:pt x="569470" y="812800"/>
                  </a:cubicBezTo>
                  <a:cubicBezTo>
                    <a:pt x="883980" y="812800"/>
                    <a:pt x="1138940" y="630849"/>
                    <a:pt x="1138940" y="406400"/>
                  </a:cubicBezTo>
                  <a:cubicBezTo>
                    <a:pt x="1138940" y="181951"/>
                    <a:pt x="883980" y="0"/>
                    <a:pt x="569470" y="0"/>
                  </a:cubicBezTo>
                  <a:close/>
                </a:path>
              </a:pathLst>
            </a:custGeom>
            <a:solidFill>
              <a:srgbClr val="94A83A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106776" y="28575"/>
              <a:ext cx="925389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871152" y="3212094"/>
            <a:ext cx="4082471" cy="2913439"/>
            <a:chOff x="0" y="0"/>
            <a:chExt cx="113894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38940" cy="812800"/>
            </a:xfrm>
            <a:custGeom>
              <a:avLst/>
              <a:gdLst/>
              <a:ahLst/>
              <a:cxnLst/>
              <a:rect l="l" t="t" r="r" b="b"/>
              <a:pathLst>
                <a:path w="1138940" h="812800">
                  <a:moveTo>
                    <a:pt x="569470" y="0"/>
                  </a:moveTo>
                  <a:cubicBezTo>
                    <a:pt x="254960" y="0"/>
                    <a:pt x="0" y="181951"/>
                    <a:pt x="0" y="406400"/>
                  </a:cubicBezTo>
                  <a:cubicBezTo>
                    <a:pt x="0" y="630849"/>
                    <a:pt x="254960" y="812800"/>
                    <a:pt x="569470" y="812800"/>
                  </a:cubicBezTo>
                  <a:cubicBezTo>
                    <a:pt x="883980" y="812800"/>
                    <a:pt x="1138940" y="630849"/>
                    <a:pt x="1138940" y="406400"/>
                  </a:cubicBezTo>
                  <a:cubicBezTo>
                    <a:pt x="1138940" y="181951"/>
                    <a:pt x="883980" y="0"/>
                    <a:pt x="569470" y="0"/>
                  </a:cubicBezTo>
                  <a:close/>
                </a:path>
              </a:pathLst>
            </a:custGeom>
            <a:solidFill>
              <a:srgbClr val="94A83A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106776" y="28575"/>
              <a:ext cx="925389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518846" y="6125533"/>
            <a:ext cx="4082471" cy="2913439"/>
            <a:chOff x="0" y="0"/>
            <a:chExt cx="113894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138940" cy="812800"/>
            </a:xfrm>
            <a:custGeom>
              <a:avLst/>
              <a:gdLst/>
              <a:ahLst/>
              <a:cxnLst/>
              <a:rect l="l" t="t" r="r" b="b"/>
              <a:pathLst>
                <a:path w="1138940" h="812800">
                  <a:moveTo>
                    <a:pt x="569470" y="0"/>
                  </a:moveTo>
                  <a:cubicBezTo>
                    <a:pt x="254960" y="0"/>
                    <a:pt x="0" y="181951"/>
                    <a:pt x="0" y="406400"/>
                  </a:cubicBezTo>
                  <a:cubicBezTo>
                    <a:pt x="0" y="630849"/>
                    <a:pt x="254960" y="812800"/>
                    <a:pt x="569470" y="812800"/>
                  </a:cubicBezTo>
                  <a:cubicBezTo>
                    <a:pt x="883980" y="812800"/>
                    <a:pt x="1138940" y="630849"/>
                    <a:pt x="1138940" y="406400"/>
                  </a:cubicBezTo>
                  <a:cubicBezTo>
                    <a:pt x="1138940" y="181951"/>
                    <a:pt x="883980" y="0"/>
                    <a:pt x="569470" y="0"/>
                  </a:cubicBezTo>
                  <a:close/>
                </a:path>
              </a:pathLst>
            </a:custGeom>
            <a:solidFill>
              <a:srgbClr val="94A83A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106776" y="28575"/>
              <a:ext cx="925389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15551238" y="7393430"/>
            <a:ext cx="2736762" cy="2736762"/>
          </a:xfrm>
          <a:custGeom>
            <a:avLst/>
            <a:gdLst/>
            <a:ahLst/>
            <a:cxnLst/>
            <a:rect l="l" t="t" r="r" b="b"/>
            <a:pathLst>
              <a:path w="2736762" h="2736762">
                <a:moveTo>
                  <a:pt x="0" y="0"/>
                </a:moveTo>
                <a:lnTo>
                  <a:pt x="2736762" y="0"/>
                </a:lnTo>
                <a:lnTo>
                  <a:pt x="2736762" y="2736762"/>
                </a:lnTo>
                <a:lnTo>
                  <a:pt x="0" y="27367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5001461" y="1768546"/>
            <a:ext cx="7117241" cy="694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799" b="1">
                <a:solidFill>
                  <a:srgbClr val="000000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Objectifs visés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26612" y="3586138"/>
            <a:ext cx="3585330" cy="177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Centraliser toutes les informations relatives à l’investissement immobilier au Maroc.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726181" y="3586138"/>
            <a:ext cx="3585330" cy="177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Mettre en relation les investisseurs avec des experts et prestataires qualifiés.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922032" y="3814295"/>
            <a:ext cx="3533269" cy="1318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49"/>
              </a:lnSpc>
              <a:spcBef>
                <a:spcPct val="0"/>
              </a:spcBef>
            </a:pPr>
            <a:r>
              <a:rPr lang="en-US" sz="2463" b="1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Simplifier et accélérer les démarches d’investissement.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118802" y="3750802"/>
            <a:ext cx="3533269" cy="1750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49"/>
              </a:lnSpc>
              <a:spcBef>
                <a:spcPct val="0"/>
              </a:spcBef>
            </a:pPr>
            <a:r>
              <a:rPr lang="en-US" sz="2463" b="1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Offrir un accompagnement personnalisé aux utilisateurs.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518846" y="6651977"/>
            <a:ext cx="4082471" cy="177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Réduire le temps de recherche et les risques liés au manque d’informations.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0" y="105393"/>
            <a:ext cx="7117241" cy="1279796"/>
            <a:chOff x="0" y="0"/>
            <a:chExt cx="1874500" cy="33706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874500" cy="337066"/>
            </a:xfrm>
            <a:custGeom>
              <a:avLst/>
              <a:gdLst/>
              <a:ahLst/>
              <a:cxnLst/>
              <a:rect l="l" t="t" r="r" b="b"/>
              <a:pathLst>
                <a:path w="1874500" h="337066">
                  <a:moveTo>
                    <a:pt x="55476" y="0"/>
                  </a:moveTo>
                  <a:lnTo>
                    <a:pt x="1819023" y="0"/>
                  </a:lnTo>
                  <a:cubicBezTo>
                    <a:pt x="1849662" y="0"/>
                    <a:pt x="1874500" y="24838"/>
                    <a:pt x="1874500" y="55476"/>
                  </a:cubicBezTo>
                  <a:lnTo>
                    <a:pt x="1874500" y="281589"/>
                  </a:lnTo>
                  <a:cubicBezTo>
                    <a:pt x="1874500" y="296303"/>
                    <a:pt x="1868655" y="310413"/>
                    <a:pt x="1858251" y="320817"/>
                  </a:cubicBezTo>
                  <a:cubicBezTo>
                    <a:pt x="1847847" y="331221"/>
                    <a:pt x="1833737" y="337066"/>
                    <a:pt x="1819023" y="337066"/>
                  </a:cubicBezTo>
                  <a:lnTo>
                    <a:pt x="55476" y="337066"/>
                  </a:lnTo>
                  <a:cubicBezTo>
                    <a:pt x="24838" y="337066"/>
                    <a:pt x="0" y="312228"/>
                    <a:pt x="0" y="281589"/>
                  </a:cubicBezTo>
                  <a:lnTo>
                    <a:pt x="0" y="55476"/>
                  </a:lnTo>
                  <a:cubicBezTo>
                    <a:pt x="0" y="24838"/>
                    <a:pt x="24838" y="0"/>
                    <a:pt x="55476" y="0"/>
                  </a:cubicBezTo>
                  <a:close/>
                </a:path>
              </a:pathLst>
            </a:custGeom>
            <a:solidFill>
              <a:srgbClr val="94A83A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47625"/>
              <a:ext cx="1874500" cy="3846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0" y="334644"/>
            <a:ext cx="7117241" cy="694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799" b="1">
                <a:solidFill>
                  <a:srgbClr val="000000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1.Introduction &amp; objectifs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26612" y="9334246"/>
            <a:ext cx="15529139" cy="497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29"/>
              </a:lnSpc>
              <a:spcBef>
                <a:spcPct val="0"/>
              </a:spcBef>
            </a:pPr>
            <a:r>
              <a:rPr lang="en-US" sz="2735" b="1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🏢 Investissement, 🌍 Investisseurs étrangers, 🤝 Mise en relation, 📈 Croissance immobilière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668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05393"/>
            <a:ext cx="7117241" cy="1279796"/>
            <a:chOff x="0" y="0"/>
            <a:chExt cx="1874500" cy="3370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74500" cy="337066"/>
            </a:xfrm>
            <a:custGeom>
              <a:avLst/>
              <a:gdLst/>
              <a:ahLst/>
              <a:cxnLst/>
              <a:rect l="l" t="t" r="r" b="b"/>
              <a:pathLst>
                <a:path w="1874500" h="337066">
                  <a:moveTo>
                    <a:pt x="55476" y="0"/>
                  </a:moveTo>
                  <a:lnTo>
                    <a:pt x="1819023" y="0"/>
                  </a:lnTo>
                  <a:cubicBezTo>
                    <a:pt x="1849662" y="0"/>
                    <a:pt x="1874500" y="24838"/>
                    <a:pt x="1874500" y="55476"/>
                  </a:cubicBezTo>
                  <a:lnTo>
                    <a:pt x="1874500" y="281589"/>
                  </a:lnTo>
                  <a:cubicBezTo>
                    <a:pt x="1874500" y="296303"/>
                    <a:pt x="1868655" y="310413"/>
                    <a:pt x="1858251" y="320817"/>
                  </a:cubicBezTo>
                  <a:cubicBezTo>
                    <a:pt x="1847847" y="331221"/>
                    <a:pt x="1833737" y="337066"/>
                    <a:pt x="1819023" y="337066"/>
                  </a:cubicBezTo>
                  <a:lnTo>
                    <a:pt x="55476" y="337066"/>
                  </a:lnTo>
                  <a:cubicBezTo>
                    <a:pt x="24838" y="337066"/>
                    <a:pt x="0" y="312228"/>
                    <a:pt x="0" y="281589"/>
                  </a:cubicBezTo>
                  <a:lnTo>
                    <a:pt x="0" y="55476"/>
                  </a:lnTo>
                  <a:cubicBezTo>
                    <a:pt x="0" y="24838"/>
                    <a:pt x="24838" y="0"/>
                    <a:pt x="55476" y="0"/>
                  </a:cubicBezTo>
                  <a:close/>
                </a:path>
              </a:pathLst>
            </a:custGeom>
            <a:solidFill>
              <a:srgbClr val="94A83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874500" cy="3846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487378" y="2539826"/>
            <a:ext cx="13615529" cy="4561982"/>
            <a:chOff x="0" y="0"/>
            <a:chExt cx="3585983" cy="12015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585983" cy="1201510"/>
            </a:xfrm>
            <a:custGeom>
              <a:avLst/>
              <a:gdLst/>
              <a:ahLst/>
              <a:cxnLst/>
              <a:rect l="l" t="t" r="r" b="b"/>
              <a:pathLst>
                <a:path w="3585983" h="1201510">
                  <a:moveTo>
                    <a:pt x="28999" y="0"/>
                  </a:moveTo>
                  <a:lnTo>
                    <a:pt x="3556984" y="0"/>
                  </a:lnTo>
                  <a:cubicBezTo>
                    <a:pt x="3573000" y="0"/>
                    <a:pt x="3585983" y="12983"/>
                    <a:pt x="3585983" y="28999"/>
                  </a:cubicBezTo>
                  <a:lnTo>
                    <a:pt x="3585983" y="1172511"/>
                  </a:lnTo>
                  <a:cubicBezTo>
                    <a:pt x="3585983" y="1188526"/>
                    <a:pt x="3573000" y="1201510"/>
                    <a:pt x="3556984" y="1201510"/>
                  </a:cubicBezTo>
                  <a:lnTo>
                    <a:pt x="28999" y="1201510"/>
                  </a:lnTo>
                  <a:cubicBezTo>
                    <a:pt x="21308" y="1201510"/>
                    <a:pt x="13932" y="1198454"/>
                    <a:pt x="8494" y="1193016"/>
                  </a:cubicBezTo>
                  <a:cubicBezTo>
                    <a:pt x="3055" y="1187578"/>
                    <a:pt x="0" y="1180202"/>
                    <a:pt x="0" y="1172511"/>
                  </a:cubicBezTo>
                  <a:lnTo>
                    <a:pt x="0" y="28999"/>
                  </a:lnTo>
                  <a:cubicBezTo>
                    <a:pt x="0" y="21308"/>
                    <a:pt x="3055" y="13932"/>
                    <a:pt x="8494" y="8494"/>
                  </a:cubicBezTo>
                  <a:cubicBezTo>
                    <a:pt x="13932" y="3055"/>
                    <a:pt x="21308" y="0"/>
                    <a:pt x="28999" y="0"/>
                  </a:cubicBezTo>
                  <a:close/>
                </a:path>
              </a:pathLst>
            </a:custGeom>
            <a:solidFill>
              <a:srgbClr val="94A83A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3585983" cy="12491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8953522" y="911803"/>
            <a:ext cx="1129911" cy="1335198"/>
          </a:xfrm>
          <a:custGeom>
            <a:avLst/>
            <a:gdLst/>
            <a:ahLst/>
            <a:cxnLst/>
            <a:rect l="l" t="t" r="r" b="b"/>
            <a:pathLst>
              <a:path w="1129911" h="1335198">
                <a:moveTo>
                  <a:pt x="0" y="0"/>
                </a:moveTo>
                <a:lnTo>
                  <a:pt x="1129911" y="0"/>
                </a:lnTo>
                <a:lnTo>
                  <a:pt x="1129911" y="1335198"/>
                </a:lnTo>
                <a:lnTo>
                  <a:pt x="0" y="13351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464244" y="1579402"/>
            <a:ext cx="8229600" cy="7546729"/>
          </a:xfrm>
          <a:custGeom>
            <a:avLst/>
            <a:gdLst/>
            <a:ahLst/>
            <a:cxnLst/>
            <a:rect l="l" t="t" r="r" b="b"/>
            <a:pathLst>
              <a:path w="8229600" h="7546729">
                <a:moveTo>
                  <a:pt x="0" y="0"/>
                </a:moveTo>
                <a:lnTo>
                  <a:pt x="8229600" y="0"/>
                </a:lnTo>
                <a:lnTo>
                  <a:pt x="8229600" y="7546729"/>
                </a:lnTo>
                <a:lnTo>
                  <a:pt x="0" y="75467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9048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104165" y="3032021"/>
            <a:ext cx="12381956" cy="3453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sz="3899" b="1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Comment faciliter et sécuriser l’investissement immobilier au Maroc en centralisant les informations, les opportunités d’investissement et les services des professionnels du secteur au sein d’une plateforme web unique et intuitive ?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0" y="334644"/>
            <a:ext cx="7117241" cy="694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799" b="1">
                <a:solidFill>
                  <a:srgbClr val="000000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2.Problématique</a:t>
            </a:r>
          </a:p>
        </p:txBody>
      </p:sp>
      <p:sp>
        <p:nvSpPr>
          <p:cNvPr id="12" name="Freeform 12"/>
          <p:cNvSpPr/>
          <p:nvPr/>
        </p:nvSpPr>
        <p:spPr>
          <a:xfrm>
            <a:off x="11564942" y="911803"/>
            <a:ext cx="1129911" cy="1335198"/>
          </a:xfrm>
          <a:custGeom>
            <a:avLst/>
            <a:gdLst/>
            <a:ahLst/>
            <a:cxnLst/>
            <a:rect l="l" t="t" r="r" b="b"/>
            <a:pathLst>
              <a:path w="1129911" h="1335198">
                <a:moveTo>
                  <a:pt x="0" y="0"/>
                </a:moveTo>
                <a:lnTo>
                  <a:pt x="1129911" y="0"/>
                </a:lnTo>
                <a:lnTo>
                  <a:pt x="1129911" y="1335198"/>
                </a:lnTo>
                <a:lnTo>
                  <a:pt x="0" y="13351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5997473" y="1204628"/>
            <a:ext cx="1129911" cy="1335198"/>
          </a:xfrm>
          <a:custGeom>
            <a:avLst/>
            <a:gdLst/>
            <a:ahLst/>
            <a:cxnLst/>
            <a:rect l="l" t="t" r="r" b="b"/>
            <a:pathLst>
              <a:path w="1129911" h="1335198">
                <a:moveTo>
                  <a:pt x="0" y="0"/>
                </a:moveTo>
                <a:lnTo>
                  <a:pt x="1129911" y="0"/>
                </a:lnTo>
                <a:lnTo>
                  <a:pt x="1129911" y="1335198"/>
                </a:lnTo>
                <a:lnTo>
                  <a:pt x="0" y="13351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3780703" y="911803"/>
            <a:ext cx="1129911" cy="1335198"/>
          </a:xfrm>
          <a:custGeom>
            <a:avLst/>
            <a:gdLst/>
            <a:ahLst/>
            <a:cxnLst/>
            <a:rect l="l" t="t" r="r" b="b"/>
            <a:pathLst>
              <a:path w="1129911" h="1335198">
                <a:moveTo>
                  <a:pt x="0" y="0"/>
                </a:moveTo>
                <a:lnTo>
                  <a:pt x="1129911" y="0"/>
                </a:lnTo>
                <a:lnTo>
                  <a:pt x="1129911" y="1335198"/>
                </a:lnTo>
                <a:lnTo>
                  <a:pt x="0" y="13351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6562428" y="3485619"/>
            <a:ext cx="1129911" cy="1335198"/>
          </a:xfrm>
          <a:custGeom>
            <a:avLst/>
            <a:gdLst/>
            <a:ahLst/>
            <a:cxnLst/>
            <a:rect l="l" t="t" r="r" b="b"/>
            <a:pathLst>
              <a:path w="1129911" h="1335198">
                <a:moveTo>
                  <a:pt x="0" y="0"/>
                </a:moveTo>
                <a:lnTo>
                  <a:pt x="1129912" y="0"/>
                </a:lnTo>
                <a:lnTo>
                  <a:pt x="1129912" y="1335198"/>
                </a:lnTo>
                <a:lnTo>
                  <a:pt x="0" y="13351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6694344" y="6147844"/>
            <a:ext cx="1129911" cy="1335198"/>
          </a:xfrm>
          <a:custGeom>
            <a:avLst/>
            <a:gdLst/>
            <a:ahLst/>
            <a:cxnLst/>
            <a:rect l="l" t="t" r="r" b="b"/>
            <a:pathLst>
              <a:path w="1129911" h="1335198">
                <a:moveTo>
                  <a:pt x="0" y="0"/>
                </a:moveTo>
                <a:lnTo>
                  <a:pt x="1129912" y="0"/>
                </a:lnTo>
                <a:lnTo>
                  <a:pt x="1129912" y="1335198"/>
                </a:lnTo>
                <a:lnTo>
                  <a:pt x="0" y="13351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4867562" y="7720933"/>
            <a:ext cx="1129911" cy="1335198"/>
          </a:xfrm>
          <a:custGeom>
            <a:avLst/>
            <a:gdLst/>
            <a:ahLst/>
            <a:cxnLst/>
            <a:rect l="l" t="t" r="r" b="b"/>
            <a:pathLst>
              <a:path w="1129911" h="1335198">
                <a:moveTo>
                  <a:pt x="0" y="0"/>
                </a:moveTo>
                <a:lnTo>
                  <a:pt x="1129911" y="0"/>
                </a:lnTo>
                <a:lnTo>
                  <a:pt x="1129911" y="1335198"/>
                </a:lnTo>
                <a:lnTo>
                  <a:pt x="0" y="13351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1961402" y="7790934"/>
            <a:ext cx="1129911" cy="1335198"/>
          </a:xfrm>
          <a:custGeom>
            <a:avLst/>
            <a:gdLst/>
            <a:ahLst/>
            <a:cxnLst/>
            <a:rect l="l" t="t" r="r" b="b"/>
            <a:pathLst>
              <a:path w="1129911" h="1335198">
                <a:moveTo>
                  <a:pt x="0" y="0"/>
                </a:moveTo>
                <a:lnTo>
                  <a:pt x="1129912" y="0"/>
                </a:lnTo>
                <a:lnTo>
                  <a:pt x="1129912" y="1335197"/>
                </a:lnTo>
                <a:lnTo>
                  <a:pt x="0" y="13351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4888587" y="7790934"/>
            <a:ext cx="1129911" cy="1335198"/>
          </a:xfrm>
          <a:custGeom>
            <a:avLst/>
            <a:gdLst/>
            <a:ahLst/>
            <a:cxnLst/>
            <a:rect l="l" t="t" r="r" b="b"/>
            <a:pathLst>
              <a:path w="1129911" h="1335198">
                <a:moveTo>
                  <a:pt x="0" y="0"/>
                </a:moveTo>
                <a:lnTo>
                  <a:pt x="1129911" y="0"/>
                </a:lnTo>
                <a:lnTo>
                  <a:pt x="1129911" y="1335197"/>
                </a:lnTo>
                <a:lnTo>
                  <a:pt x="0" y="13351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562683" y="7348575"/>
            <a:ext cx="1129911" cy="1335198"/>
          </a:xfrm>
          <a:custGeom>
            <a:avLst/>
            <a:gdLst/>
            <a:ahLst/>
            <a:cxnLst/>
            <a:rect l="l" t="t" r="r" b="b"/>
            <a:pathLst>
              <a:path w="1129911" h="1335198">
                <a:moveTo>
                  <a:pt x="0" y="0"/>
                </a:moveTo>
                <a:lnTo>
                  <a:pt x="1129911" y="0"/>
                </a:lnTo>
                <a:lnTo>
                  <a:pt x="1129911" y="1335198"/>
                </a:lnTo>
                <a:lnTo>
                  <a:pt x="0" y="13351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463744" y="4812646"/>
            <a:ext cx="1129911" cy="1335198"/>
          </a:xfrm>
          <a:custGeom>
            <a:avLst/>
            <a:gdLst/>
            <a:ahLst/>
            <a:cxnLst/>
            <a:rect l="l" t="t" r="r" b="b"/>
            <a:pathLst>
              <a:path w="1129911" h="1335198">
                <a:moveTo>
                  <a:pt x="0" y="0"/>
                </a:moveTo>
                <a:lnTo>
                  <a:pt x="1129912" y="0"/>
                </a:lnTo>
                <a:lnTo>
                  <a:pt x="1129912" y="1335198"/>
                </a:lnTo>
                <a:lnTo>
                  <a:pt x="0" y="13351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617941" y="2150421"/>
            <a:ext cx="1129911" cy="1335198"/>
          </a:xfrm>
          <a:custGeom>
            <a:avLst/>
            <a:gdLst/>
            <a:ahLst/>
            <a:cxnLst/>
            <a:rect l="l" t="t" r="r" b="b"/>
            <a:pathLst>
              <a:path w="1129911" h="1335198">
                <a:moveTo>
                  <a:pt x="0" y="0"/>
                </a:moveTo>
                <a:lnTo>
                  <a:pt x="1129911" y="0"/>
                </a:lnTo>
                <a:lnTo>
                  <a:pt x="1129911" y="1335198"/>
                </a:lnTo>
                <a:lnTo>
                  <a:pt x="0" y="13351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7823611" y="8590701"/>
            <a:ext cx="1129911" cy="1335198"/>
          </a:xfrm>
          <a:custGeom>
            <a:avLst/>
            <a:gdLst/>
            <a:ahLst/>
            <a:cxnLst/>
            <a:rect l="l" t="t" r="r" b="b"/>
            <a:pathLst>
              <a:path w="1129911" h="1335198">
                <a:moveTo>
                  <a:pt x="0" y="0"/>
                </a:moveTo>
                <a:lnTo>
                  <a:pt x="1129911" y="0"/>
                </a:lnTo>
                <a:lnTo>
                  <a:pt x="1129911" y="1335198"/>
                </a:lnTo>
                <a:lnTo>
                  <a:pt x="0" y="13351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668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059" y="117614"/>
            <a:ext cx="7117241" cy="1279796"/>
            <a:chOff x="0" y="0"/>
            <a:chExt cx="1874500" cy="3370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74500" cy="337066"/>
            </a:xfrm>
            <a:custGeom>
              <a:avLst/>
              <a:gdLst/>
              <a:ahLst/>
              <a:cxnLst/>
              <a:rect l="l" t="t" r="r" b="b"/>
              <a:pathLst>
                <a:path w="1874500" h="337066">
                  <a:moveTo>
                    <a:pt x="55476" y="0"/>
                  </a:moveTo>
                  <a:lnTo>
                    <a:pt x="1819023" y="0"/>
                  </a:lnTo>
                  <a:cubicBezTo>
                    <a:pt x="1849662" y="0"/>
                    <a:pt x="1874500" y="24838"/>
                    <a:pt x="1874500" y="55476"/>
                  </a:cubicBezTo>
                  <a:lnTo>
                    <a:pt x="1874500" y="281589"/>
                  </a:lnTo>
                  <a:cubicBezTo>
                    <a:pt x="1874500" y="296303"/>
                    <a:pt x="1868655" y="310413"/>
                    <a:pt x="1858251" y="320817"/>
                  </a:cubicBezTo>
                  <a:cubicBezTo>
                    <a:pt x="1847847" y="331221"/>
                    <a:pt x="1833737" y="337066"/>
                    <a:pt x="1819023" y="337066"/>
                  </a:cubicBezTo>
                  <a:lnTo>
                    <a:pt x="55476" y="337066"/>
                  </a:lnTo>
                  <a:cubicBezTo>
                    <a:pt x="24838" y="337066"/>
                    <a:pt x="0" y="312228"/>
                    <a:pt x="0" y="281589"/>
                  </a:cubicBezTo>
                  <a:lnTo>
                    <a:pt x="0" y="55476"/>
                  </a:lnTo>
                  <a:cubicBezTo>
                    <a:pt x="0" y="24838"/>
                    <a:pt x="24838" y="0"/>
                    <a:pt x="55476" y="0"/>
                  </a:cubicBezTo>
                  <a:close/>
                </a:path>
              </a:pathLst>
            </a:custGeom>
            <a:solidFill>
              <a:srgbClr val="94A83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874500" cy="3846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7321360" y="55481"/>
            <a:ext cx="1519666" cy="1329708"/>
          </a:xfrm>
          <a:custGeom>
            <a:avLst/>
            <a:gdLst/>
            <a:ahLst/>
            <a:cxnLst/>
            <a:rect l="l" t="t" r="r" b="b"/>
            <a:pathLst>
              <a:path w="1519666" h="1329708">
                <a:moveTo>
                  <a:pt x="0" y="0"/>
                </a:moveTo>
                <a:lnTo>
                  <a:pt x="1519666" y="0"/>
                </a:lnTo>
                <a:lnTo>
                  <a:pt x="1519666" y="1329708"/>
                </a:lnTo>
                <a:lnTo>
                  <a:pt x="0" y="13297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11564" y="1764414"/>
            <a:ext cx="1634272" cy="1977939"/>
          </a:xfrm>
          <a:custGeom>
            <a:avLst/>
            <a:gdLst/>
            <a:ahLst/>
            <a:cxnLst/>
            <a:rect l="l" t="t" r="r" b="b"/>
            <a:pathLst>
              <a:path w="1634272" h="1977939">
                <a:moveTo>
                  <a:pt x="0" y="0"/>
                </a:moveTo>
                <a:lnTo>
                  <a:pt x="1634272" y="0"/>
                </a:lnTo>
                <a:lnTo>
                  <a:pt x="1634272" y="1977939"/>
                </a:lnTo>
                <a:lnTo>
                  <a:pt x="0" y="19779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0" y="336350"/>
            <a:ext cx="7117241" cy="694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799" b="1" dirty="0">
                <a:solidFill>
                  <a:srgbClr val="000000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3.Fonctionnalités </a:t>
            </a:r>
            <a:r>
              <a:rPr lang="en-US" sz="3799" b="1" dirty="0" err="1">
                <a:solidFill>
                  <a:srgbClr val="000000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principales</a:t>
            </a:r>
            <a:r>
              <a:rPr lang="en-US" sz="3799" b="1" dirty="0">
                <a:solidFill>
                  <a:srgbClr val="000000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 </a:t>
            </a:r>
          </a:p>
        </p:txBody>
      </p:sp>
      <p:sp>
        <p:nvSpPr>
          <p:cNvPr id="9" name="Freeform 9"/>
          <p:cNvSpPr/>
          <p:nvPr/>
        </p:nvSpPr>
        <p:spPr>
          <a:xfrm>
            <a:off x="5687088" y="3742353"/>
            <a:ext cx="1634272" cy="1977939"/>
          </a:xfrm>
          <a:custGeom>
            <a:avLst/>
            <a:gdLst/>
            <a:ahLst/>
            <a:cxnLst/>
            <a:rect l="l" t="t" r="r" b="b"/>
            <a:pathLst>
              <a:path w="1634272" h="1977939">
                <a:moveTo>
                  <a:pt x="0" y="0"/>
                </a:moveTo>
                <a:lnTo>
                  <a:pt x="1634272" y="0"/>
                </a:lnTo>
                <a:lnTo>
                  <a:pt x="1634272" y="1977938"/>
                </a:lnTo>
                <a:lnTo>
                  <a:pt x="0" y="19779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7563669" y="4273232"/>
            <a:ext cx="10115088" cy="1645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b="1" dirty="0" err="1">
                <a:highlight>
                  <a:srgbClr val="FFFF00"/>
                </a:highlight>
                <a:latin typeface="Telegraf Medium"/>
                <a:ea typeface="Telegraf Medium"/>
                <a:cs typeface="Telegraf Medium"/>
                <a:sym typeface="Telegraf Medium"/>
              </a:rPr>
              <a:t>Simulateur</a:t>
            </a:r>
            <a:r>
              <a:rPr lang="en-US" sz="3099" b="1" dirty="0">
                <a:highlight>
                  <a:srgbClr val="FFFF00"/>
                </a:highlight>
                <a:latin typeface="Telegraf Medium"/>
                <a:ea typeface="Telegraf Medium"/>
                <a:cs typeface="Telegraf Medium"/>
                <a:sym typeface="Telegraf Medium"/>
              </a:rPr>
              <a:t> </a:t>
            </a:r>
            <a:r>
              <a:rPr lang="en-US" sz="3099" b="1" dirty="0" err="1">
                <a:highlight>
                  <a:srgbClr val="FFFF00"/>
                </a:highlight>
                <a:latin typeface="Telegraf Medium"/>
                <a:ea typeface="Telegraf Medium"/>
                <a:cs typeface="Telegraf Medium"/>
                <a:sym typeface="Telegraf Medium"/>
              </a:rPr>
              <a:t>d’investissement</a:t>
            </a:r>
            <a:r>
              <a:rPr lang="en-US" sz="3099" b="1" dirty="0">
                <a:highlight>
                  <a:srgbClr val="FFFF00"/>
                </a:highlight>
                <a:latin typeface="Telegraf Medium"/>
                <a:ea typeface="Telegraf Medium"/>
                <a:cs typeface="Telegraf Medium"/>
                <a:sym typeface="Telegraf Medium"/>
              </a:rPr>
              <a:t>: </a:t>
            </a:r>
            <a:r>
              <a:rPr lang="en-US" sz="3099" b="1" dirty="0" err="1">
                <a:highlight>
                  <a:srgbClr val="FFFF00"/>
                </a:highlight>
                <a:latin typeface="Telegraf Medium"/>
                <a:ea typeface="Telegraf Medium"/>
                <a:cs typeface="Telegraf Medium"/>
                <a:sym typeface="Telegraf Medium"/>
              </a:rPr>
              <a:t>calcul</a:t>
            </a:r>
            <a:r>
              <a:rPr lang="en-US" sz="3099" b="1" dirty="0">
                <a:highlight>
                  <a:srgbClr val="FFFF00"/>
                </a:highlight>
                <a:latin typeface="Telegraf Medium"/>
                <a:ea typeface="Telegraf Medium"/>
                <a:cs typeface="Telegraf Medium"/>
                <a:sym typeface="Telegraf Medium"/>
              </a:rPr>
              <a:t> ROI, </a:t>
            </a:r>
            <a:r>
              <a:rPr lang="en-US" sz="3099" b="1" dirty="0" err="1">
                <a:highlight>
                  <a:srgbClr val="FFFF00"/>
                </a:highlight>
                <a:latin typeface="Telegraf Medium"/>
                <a:ea typeface="Telegraf Medium"/>
                <a:cs typeface="Telegraf Medium"/>
                <a:sym typeface="Telegraf Medium"/>
              </a:rPr>
              <a:t>scénarios</a:t>
            </a:r>
            <a:r>
              <a:rPr lang="en-US" sz="3099" b="1" dirty="0">
                <a:highlight>
                  <a:srgbClr val="FFFF00"/>
                </a:highlight>
                <a:latin typeface="Telegraf Medium"/>
                <a:ea typeface="Telegraf Medium"/>
                <a:cs typeface="Telegraf Medium"/>
                <a:sym typeface="Telegraf Medium"/>
              </a:rPr>
              <a:t> et </a:t>
            </a:r>
            <a:r>
              <a:rPr lang="en-US" sz="3099" b="1" dirty="0" err="1">
                <a:highlight>
                  <a:srgbClr val="FFFF00"/>
                </a:highlight>
                <a:latin typeface="Telegraf Medium"/>
                <a:ea typeface="Telegraf Medium"/>
                <a:cs typeface="Telegraf Medium"/>
                <a:sym typeface="Telegraf Medium"/>
              </a:rPr>
              <a:t>sauvegarde</a:t>
            </a:r>
            <a:r>
              <a:rPr lang="en-US" sz="3099" b="1" dirty="0">
                <a:highlight>
                  <a:srgbClr val="FFFF00"/>
                </a:highlight>
                <a:latin typeface="Telegraf Medium"/>
                <a:ea typeface="Telegraf Medium"/>
                <a:cs typeface="Telegraf Medium"/>
                <a:sym typeface="Telegraf Medium"/>
              </a:rPr>
              <a:t> des simulations (</a:t>
            </a:r>
            <a:r>
              <a:rPr lang="en-US" sz="3099" b="1" dirty="0" err="1">
                <a:highlight>
                  <a:srgbClr val="FFFF00"/>
                </a:highlight>
                <a:latin typeface="Telegraf Medium"/>
                <a:ea typeface="Telegraf Medium"/>
                <a:cs typeface="Telegraf Medium"/>
                <a:sym typeface="Telegraf Medium"/>
              </a:rPr>
              <a:t>utilise</a:t>
            </a:r>
            <a:r>
              <a:rPr lang="en-US" sz="3099" b="1" dirty="0">
                <a:highlight>
                  <a:srgbClr val="FFFF00"/>
                </a:highlight>
                <a:latin typeface="Telegraf Medium"/>
                <a:ea typeface="Telegraf Medium"/>
                <a:cs typeface="Telegraf Medium"/>
                <a:sym typeface="Telegraf Medium"/>
              </a:rPr>
              <a:t> Simulation).</a:t>
            </a:r>
          </a:p>
          <a:p>
            <a:pPr algn="ctr">
              <a:lnSpc>
                <a:spcPts val="4339"/>
              </a:lnSpc>
              <a:spcBef>
                <a:spcPct val="0"/>
              </a:spcBef>
            </a:pPr>
            <a:endParaRPr lang="en-US" sz="3099" b="1" dirty="0">
              <a:latin typeface="Telegraf Medium"/>
              <a:ea typeface="Telegraf Medium"/>
              <a:cs typeface="Telegraf Medium"/>
              <a:sym typeface="Telegraf Medium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211564" y="5720291"/>
            <a:ext cx="1634272" cy="1977939"/>
          </a:xfrm>
          <a:custGeom>
            <a:avLst/>
            <a:gdLst/>
            <a:ahLst/>
            <a:cxnLst/>
            <a:rect l="l" t="t" r="r" b="b"/>
            <a:pathLst>
              <a:path w="1634272" h="1977939">
                <a:moveTo>
                  <a:pt x="0" y="0"/>
                </a:moveTo>
                <a:lnTo>
                  <a:pt x="1634272" y="0"/>
                </a:lnTo>
                <a:lnTo>
                  <a:pt x="1634272" y="1977939"/>
                </a:lnTo>
                <a:lnTo>
                  <a:pt x="0" y="19779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999479" y="6052944"/>
            <a:ext cx="11194465" cy="1010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fr-FR" sz="3200" b="0" i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Segoe WPC"/>
              </a:rPr>
              <a:t>Inscription / connexion client et pro</a:t>
            </a:r>
          </a:p>
          <a:p>
            <a:pPr algn="ctr">
              <a:lnSpc>
                <a:spcPts val="4339"/>
              </a:lnSpc>
              <a:spcBef>
                <a:spcPct val="0"/>
              </a:spcBef>
            </a:pPr>
            <a:endParaRPr lang="en-US" sz="3099" b="1" dirty="0">
              <a:solidFill>
                <a:srgbClr val="FFFFFF"/>
              </a:solidFill>
              <a:latin typeface="Telegraf Medium"/>
              <a:ea typeface="Telegraf Medium"/>
              <a:cs typeface="Telegraf Medium"/>
              <a:sym typeface="Telegraf Medium"/>
            </a:endParaRPr>
          </a:p>
        </p:txBody>
      </p:sp>
      <p:sp>
        <p:nvSpPr>
          <p:cNvPr id="13" name="Freeform 13"/>
          <p:cNvSpPr/>
          <p:nvPr/>
        </p:nvSpPr>
        <p:spPr>
          <a:xfrm>
            <a:off x="5687088" y="8041852"/>
            <a:ext cx="1634272" cy="1977939"/>
          </a:xfrm>
          <a:custGeom>
            <a:avLst/>
            <a:gdLst/>
            <a:ahLst/>
            <a:cxnLst/>
            <a:rect l="l" t="t" r="r" b="b"/>
            <a:pathLst>
              <a:path w="1634272" h="1977939">
                <a:moveTo>
                  <a:pt x="0" y="0"/>
                </a:moveTo>
                <a:lnTo>
                  <a:pt x="1634272" y="0"/>
                </a:lnTo>
                <a:lnTo>
                  <a:pt x="1634272" y="1977939"/>
                </a:lnTo>
                <a:lnTo>
                  <a:pt x="0" y="19779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7563669" y="8801100"/>
            <a:ext cx="11194465" cy="1010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fr-FR" sz="3200" b="0" i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Segoe WPC"/>
              </a:rPr>
              <a:t>Affichage des profils avec informations, avis et villes</a:t>
            </a:r>
          </a:p>
          <a:p>
            <a:pPr algn="ctr">
              <a:lnSpc>
                <a:spcPts val="4339"/>
              </a:lnSpc>
              <a:spcBef>
                <a:spcPct val="0"/>
              </a:spcBef>
            </a:pPr>
            <a:endParaRPr lang="en-US" sz="3099" b="1" dirty="0">
              <a:solidFill>
                <a:srgbClr val="FFFFFF"/>
              </a:solidFill>
              <a:latin typeface="Telegraf Medium"/>
              <a:ea typeface="Telegraf Medium"/>
              <a:cs typeface="Telegraf Medium"/>
              <a:sym typeface="Telegraf Medium"/>
            </a:endParaRPr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1B9E0361-99F9-6820-5F27-8532902518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64400" y="1322086"/>
            <a:ext cx="13944600" cy="78483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rgbClr val="3B3B3B"/>
                </a:solidFill>
                <a:effectLst/>
                <a:latin typeface="Segoe WPC"/>
              </a:rPr>
              <a:t>Pages pour </a:t>
            </a:r>
            <a:r>
              <a:rPr kumimoji="0" lang="fr-FR" altLang="fr-FR" sz="700" b="0" i="0" u="none" strike="noStrike" cap="none" normalizeH="0" baseline="0" dirty="0">
                <a:ln>
                  <a:noFill/>
                </a:ln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Entreprises</a:t>
            </a:r>
            <a: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rgbClr val="3B3B3B"/>
                </a:solidFill>
                <a:effectLst/>
                <a:latin typeface="Segoe WPC"/>
              </a:rPr>
              <a:t>, </a:t>
            </a:r>
            <a:r>
              <a:rPr kumimoji="0" lang="fr-FR" altLang="fr-FR" sz="700" b="0" i="0" u="none" strike="noStrike" cap="none" normalizeH="0" baseline="0" dirty="0" err="1">
                <a:ln>
                  <a:noFill/>
                </a:ln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Maalems</a:t>
            </a:r>
            <a: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rgbClr val="3B3B3B"/>
                </a:solidFill>
                <a:effectLst/>
                <a:latin typeface="Segoe WPC"/>
              </a:rPr>
              <a:t> et </a:t>
            </a:r>
            <a:r>
              <a:rPr kumimoji="0" lang="fr-FR" altLang="fr-FR" sz="700" b="0" i="0" u="none" strike="noStrike" cap="none" normalizeH="0" baseline="0" dirty="0">
                <a:ln>
                  <a:noFill/>
                </a:ln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Fournisseurs</a:t>
            </a:r>
            <a:endParaRPr kumimoji="0" lang="fr-FR" altLang="fr-FR" sz="900" b="0" i="0" u="none" strike="noStrike" cap="none" normalizeH="0" baseline="0" dirty="0">
              <a:ln>
                <a:noFill/>
              </a:ln>
              <a:solidFill>
                <a:srgbClr val="3B3B3B"/>
              </a:solidFill>
              <a:effectLst/>
              <a:latin typeface="Segoe WPC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294E82F4-411D-77A6-78B6-754D59E01C7E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21183600" y="1174580"/>
            <a:ext cx="7620000" cy="78483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rgbClr val="3B3B3B"/>
                </a:solidFill>
                <a:effectLst/>
                <a:latin typeface="Segoe WPC"/>
              </a:rPr>
              <a:t>Pages pour </a:t>
            </a:r>
            <a:r>
              <a:rPr kumimoji="0" lang="fr-FR" altLang="fr-FR" sz="700" b="0" i="0" u="none" strike="noStrike" cap="none" normalizeH="0" baseline="0" dirty="0">
                <a:ln>
                  <a:noFill/>
                </a:ln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Entreprises</a:t>
            </a:r>
            <a: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rgbClr val="3B3B3B"/>
                </a:solidFill>
                <a:effectLst/>
                <a:latin typeface="Segoe WPC"/>
              </a:rPr>
              <a:t>, </a:t>
            </a:r>
            <a:r>
              <a:rPr kumimoji="0" lang="fr-FR" altLang="fr-FR" sz="700" b="0" i="0" u="none" strike="noStrike" cap="none" normalizeH="0" baseline="0" dirty="0" err="1">
                <a:ln>
                  <a:noFill/>
                </a:ln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Maalems</a:t>
            </a:r>
            <a: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rgbClr val="3B3B3B"/>
                </a:solidFill>
                <a:effectLst/>
                <a:latin typeface="Segoe WPC"/>
              </a:rPr>
              <a:t> et </a:t>
            </a:r>
            <a:r>
              <a:rPr kumimoji="0" lang="fr-FR" altLang="fr-FR" sz="700" b="0" i="0" u="none" strike="noStrike" cap="none" normalizeH="0" baseline="0" dirty="0">
                <a:ln>
                  <a:noFill/>
                </a:ln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Fournisseurs</a:t>
            </a:r>
            <a:endParaRPr kumimoji="0" lang="fr-FR" altLang="fr-FR" sz="900" b="0" i="0" u="none" strike="noStrike" cap="none" normalizeH="0" baseline="0" dirty="0">
              <a:ln>
                <a:noFill/>
              </a:ln>
              <a:solidFill>
                <a:srgbClr val="3B3B3B"/>
              </a:solidFill>
              <a:effectLst/>
              <a:latin typeface="Segoe WPC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6457E0C9-464B-3E36-838B-063790FFFD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5836" y="1983209"/>
            <a:ext cx="11565364" cy="1631216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800" b="0" i="0" u="none" strike="noStrike" cap="none" normalizeH="0" baseline="0" dirty="0">
                <a:ln>
                  <a:noFill/>
                </a:ln>
                <a:solidFill>
                  <a:srgbClr val="3B3B3B"/>
                </a:solidFill>
                <a:effectLst/>
                <a:latin typeface="Segoe WPC"/>
              </a:rPr>
              <a:t>Pages pour </a:t>
            </a:r>
            <a:r>
              <a:rPr kumimoji="0" lang="fr-FR" altLang="fr-FR" sz="2800" b="0" i="0" u="none" strike="noStrike" cap="none" normalizeH="0" baseline="0" dirty="0">
                <a:ln>
                  <a:noFill/>
                </a:ln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Entreprises</a:t>
            </a:r>
            <a:r>
              <a:rPr kumimoji="0" lang="fr-FR" altLang="fr-FR" sz="2800" b="0" i="0" u="none" strike="noStrike" cap="none" normalizeH="0" baseline="0" dirty="0">
                <a:ln>
                  <a:noFill/>
                </a:ln>
                <a:solidFill>
                  <a:srgbClr val="3B3B3B"/>
                </a:solidFill>
                <a:effectLst/>
                <a:latin typeface="Segoe WPC"/>
              </a:rPr>
              <a:t>, </a:t>
            </a:r>
            <a:r>
              <a:rPr kumimoji="0" lang="fr-FR" altLang="fr-FR" sz="2800" b="0" i="0" u="none" strike="noStrike" cap="none" normalizeH="0" baseline="0" dirty="0" err="1">
                <a:ln>
                  <a:noFill/>
                </a:ln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Maalems</a:t>
            </a:r>
            <a:r>
              <a:rPr kumimoji="0" lang="fr-FR" altLang="fr-FR" sz="2800" b="0" i="0" u="none" strike="noStrike" cap="none" normalizeH="0" baseline="0" dirty="0">
                <a:ln>
                  <a:noFill/>
                </a:ln>
                <a:solidFill>
                  <a:srgbClr val="3B3B3B"/>
                </a:solidFill>
                <a:effectLst/>
                <a:latin typeface="Segoe WPC"/>
              </a:rPr>
              <a:t> et </a:t>
            </a:r>
            <a:r>
              <a:rPr kumimoji="0" lang="fr-FR" altLang="fr-FR" sz="2800" b="0" i="0" u="none" strike="noStrike" cap="none" normalizeH="0" baseline="0" dirty="0">
                <a:ln>
                  <a:noFill/>
                </a:ln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Fournisseurs</a:t>
            </a:r>
            <a:endParaRPr kumimoji="0" lang="fr-FR" altLang="fr-FR" sz="2800" b="0" i="0" u="none" strike="noStrike" cap="none" normalizeH="0" baseline="0" dirty="0">
              <a:ln>
                <a:noFill/>
              </a:ln>
              <a:solidFill>
                <a:srgbClr val="3B3B3B"/>
              </a:solidFill>
              <a:effectLst/>
              <a:latin typeface="Segoe WPC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</a:t>
            </a:r>
            <a:r>
              <a:rPr lang="fr-FR" b="0" i="0" dirty="0">
                <a:solidFill>
                  <a:srgbClr val="3B3B3B"/>
                </a:solidFill>
                <a:effectLst/>
                <a:latin typeface="Segoe WPC"/>
              </a:rPr>
              <a:t>Filtrage par catégorie, recherche par nom et pagination/Affichage des profils avec informations, avis et villes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fr-FR" b="0" i="0" dirty="0">
              <a:solidFill>
                <a:srgbClr val="3B3B3B"/>
              </a:solidFill>
              <a:effectLst/>
              <a:latin typeface="Segoe WPC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Rectangle 4">
            <a:extLst>
              <a:ext uri="{FF2B5EF4-FFF2-40B4-BE49-F238E27FC236}">
                <a16:creationId xmlns:a16="http://schemas.microsoft.com/office/drawing/2014/main" id="{EC003A89-4930-674B-5E07-51E7D707E05F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22860000" y="1573544"/>
            <a:ext cx="5029200" cy="78483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rgbClr val="3B3B3B"/>
                </a:solidFill>
                <a:effectLst/>
                <a:latin typeface="Segoe WPC"/>
              </a:rPr>
              <a:t>Pages pour </a:t>
            </a:r>
            <a:r>
              <a:rPr kumimoji="0" lang="fr-FR" altLang="fr-FR" sz="700" b="0" i="0" u="none" strike="noStrike" cap="none" normalizeH="0" baseline="0" dirty="0">
                <a:ln>
                  <a:noFill/>
                </a:ln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Entreprises</a:t>
            </a:r>
            <a: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rgbClr val="3B3B3B"/>
                </a:solidFill>
                <a:effectLst/>
                <a:latin typeface="Segoe WPC"/>
              </a:rPr>
              <a:t>, </a:t>
            </a:r>
            <a:r>
              <a:rPr kumimoji="0" lang="fr-FR" altLang="fr-FR" sz="700" b="0" i="0" u="none" strike="noStrike" cap="none" normalizeH="0" baseline="0" dirty="0" err="1">
                <a:ln>
                  <a:noFill/>
                </a:ln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Maalems</a:t>
            </a:r>
            <a: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rgbClr val="3B3B3B"/>
                </a:solidFill>
                <a:effectLst/>
                <a:latin typeface="Segoe WPC"/>
              </a:rPr>
              <a:t> et </a:t>
            </a:r>
            <a:r>
              <a:rPr kumimoji="0" lang="fr-FR" altLang="fr-FR" sz="700" b="0" i="0" u="none" strike="noStrike" cap="none" normalizeH="0" baseline="0" dirty="0">
                <a:ln>
                  <a:noFill/>
                </a:ln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Fournisseurs</a:t>
            </a:r>
            <a:endParaRPr kumimoji="0" lang="fr-FR" altLang="fr-FR" sz="900" b="0" i="0" u="none" strike="noStrike" cap="none" normalizeH="0" baseline="0" dirty="0">
              <a:ln>
                <a:noFill/>
              </a:ln>
              <a:solidFill>
                <a:srgbClr val="3B3B3B"/>
              </a:solidFill>
              <a:effectLst/>
              <a:latin typeface="Segoe WPC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668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2169" y="149449"/>
            <a:ext cx="7117241" cy="1279796"/>
            <a:chOff x="0" y="0"/>
            <a:chExt cx="1874500" cy="3370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74500" cy="337066"/>
            </a:xfrm>
            <a:custGeom>
              <a:avLst/>
              <a:gdLst/>
              <a:ahLst/>
              <a:cxnLst/>
              <a:rect l="l" t="t" r="r" b="b"/>
              <a:pathLst>
                <a:path w="1874500" h="337066">
                  <a:moveTo>
                    <a:pt x="55476" y="0"/>
                  </a:moveTo>
                  <a:lnTo>
                    <a:pt x="1819023" y="0"/>
                  </a:lnTo>
                  <a:cubicBezTo>
                    <a:pt x="1849662" y="0"/>
                    <a:pt x="1874500" y="24838"/>
                    <a:pt x="1874500" y="55476"/>
                  </a:cubicBezTo>
                  <a:lnTo>
                    <a:pt x="1874500" y="281589"/>
                  </a:lnTo>
                  <a:cubicBezTo>
                    <a:pt x="1874500" y="296303"/>
                    <a:pt x="1868655" y="310413"/>
                    <a:pt x="1858251" y="320817"/>
                  </a:cubicBezTo>
                  <a:cubicBezTo>
                    <a:pt x="1847847" y="331221"/>
                    <a:pt x="1833737" y="337066"/>
                    <a:pt x="1819023" y="337066"/>
                  </a:cubicBezTo>
                  <a:lnTo>
                    <a:pt x="55476" y="337066"/>
                  </a:lnTo>
                  <a:cubicBezTo>
                    <a:pt x="24838" y="337066"/>
                    <a:pt x="0" y="312228"/>
                    <a:pt x="0" y="281589"/>
                  </a:cubicBezTo>
                  <a:lnTo>
                    <a:pt x="0" y="55476"/>
                  </a:lnTo>
                  <a:cubicBezTo>
                    <a:pt x="0" y="24838"/>
                    <a:pt x="24838" y="0"/>
                    <a:pt x="55476" y="0"/>
                  </a:cubicBezTo>
                  <a:close/>
                </a:path>
              </a:pathLst>
            </a:custGeom>
            <a:solidFill>
              <a:srgbClr val="94A83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874500" cy="3846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2169" y="1645563"/>
            <a:ext cx="5553247" cy="1191684"/>
            <a:chOff x="0" y="0"/>
            <a:chExt cx="1462583" cy="31385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62583" cy="313859"/>
            </a:xfrm>
            <a:custGeom>
              <a:avLst/>
              <a:gdLst/>
              <a:ahLst/>
              <a:cxnLst/>
              <a:rect l="l" t="t" r="r" b="b"/>
              <a:pathLst>
                <a:path w="1462583" h="313859">
                  <a:moveTo>
                    <a:pt x="71100" y="0"/>
                  </a:moveTo>
                  <a:lnTo>
                    <a:pt x="1391483" y="0"/>
                  </a:lnTo>
                  <a:cubicBezTo>
                    <a:pt x="1410340" y="0"/>
                    <a:pt x="1428425" y="7491"/>
                    <a:pt x="1441759" y="20825"/>
                  </a:cubicBezTo>
                  <a:cubicBezTo>
                    <a:pt x="1455093" y="34159"/>
                    <a:pt x="1462583" y="52243"/>
                    <a:pt x="1462583" y="71100"/>
                  </a:cubicBezTo>
                  <a:lnTo>
                    <a:pt x="1462583" y="242759"/>
                  </a:lnTo>
                  <a:cubicBezTo>
                    <a:pt x="1462583" y="261616"/>
                    <a:pt x="1455093" y="279700"/>
                    <a:pt x="1441759" y="293034"/>
                  </a:cubicBezTo>
                  <a:cubicBezTo>
                    <a:pt x="1428425" y="306368"/>
                    <a:pt x="1410340" y="313859"/>
                    <a:pt x="1391483" y="313859"/>
                  </a:cubicBezTo>
                  <a:lnTo>
                    <a:pt x="71100" y="313859"/>
                  </a:lnTo>
                  <a:cubicBezTo>
                    <a:pt x="52243" y="313859"/>
                    <a:pt x="34159" y="306368"/>
                    <a:pt x="20825" y="293034"/>
                  </a:cubicBezTo>
                  <a:cubicBezTo>
                    <a:pt x="7491" y="279700"/>
                    <a:pt x="0" y="261616"/>
                    <a:pt x="0" y="242759"/>
                  </a:cubicBezTo>
                  <a:lnTo>
                    <a:pt x="0" y="71100"/>
                  </a:lnTo>
                  <a:cubicBezTo>
                    <a:pt x="0" y="52243"/>
                    <a:pt x="7491" y="34159"/>
                    <a:pt x="20825" y="20825"/>
                  </a:cubicBezTo>
                  <a:cubicBezTo>
                    <a:pt x="34159" y="7491"/>
                    <a:pt x="52243" y="0"/>
                    <a:pt x="71100" y="0"/>
                  </a:cubicBezTo>
                  <a:close/>
                </a:path>
              </a:pathLst>
            </a:custGeom>
            <a:solidFill>
              <a:srgbClr val="94A83A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462583" cy="3614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615745" y="1645563"/>
            <a:ext cx="6192061" cy="1191684"/>
            <a:chOff x="0" y="0"/>
            <a:chExt cx="1630831" cy="31385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30831" cy="313859"/>
            </a:xfrm>
            <a:custGeom>
              <a:avLst/>
              <a:gdLst/>
              <a:ahLst/>
              <a:cxnLst/>
              <a:rect l="l" t="t" r="r" b="b"/>
              <a:pathLst>
                <a:path w="1630831" h="313859">
                  <a:moveTo>
                    <a:pt x="63765" y="0"/>
                  </a:moveTo>
                  <a:lnTo>
                    <a:pt x="1567066" y="0"/>
                  </a:lnTo>
                  <a:cubicBezTo>
                    <a:pt x="1602282" y="0"/>
                    <a:pt x="1630831" y="28549"/>
                    <a:pt x="1630831" y="63765"/>
                  </a:cubicBezTo>
                  <a:lnTo>
                    <a:pt x="1630831" y="250094"/>
                  </a:lnTo>
                  <a:cubicBezTo>
                    <a:pt x="1630831" y="267006"/>
                    <a:pt x="1624113" y="283224"/>
                    <a:pt x="1612155" y="295183"/>
                  </a:cubicBezTo>
                  <a:cubicBezTo>
                    <a:pt x="1600196" y="307141"/>
                    <a:pt x="1583977" y="313859"/>
                    <a:pt x="1567066" y="313859"/>
                  </a:cubicBezTo>
                  <a:lnTo>
                    <a:pt x="63765" y="313859"/>
                  </a:lnTo>
                  <a:cubicBezTo>
                    <a:pt x="28549" y="313859"/>
                    <a:pt x="0" y="285310"/>
                    <a:pt x="0" y="250094"/>
                  </a:cubicBezTo>
                  <a:lnTo>
                    <a:pt x="0" y="63765"/>
                  </a:lnTo>
                  <a:cubicBezTo>
                    <a:pt x="0" y="28549"/>
                    <a:pt x="28549" y="0"/>
                    <a:pt x="63765" y="0"/>
                  </a:cubicBezTo>
                  <a:close/>
                </a:path>
              </a:pathLst>
            </a:custGeom>
            <a:solidFill>
              <a:srgbClr val="94A83A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630831" cy="3614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0" y="380406"/>
            <a:ext cx="7117241" cy="694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799" b="1">
                <a:solidFill>
                  <a:srgbClr val="000000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Conception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41435" y="1832464"/>
            <a:ext cx="5134713" cy="694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79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diagramme de classe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615745" y="1899942"/>
            <a:ext cx="6015837" cy="578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6"/>
              </a:lnSpc>
              <a:spcBef>
                <a:spcPct val="0"/>
              </a:spcBef>
            </a:pPr>
            <a:r>
              <a:rPr lang="en-US" sz="3154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Diagramme de cas d’utilisation</a:t>
            </a: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C8B66F78-48B3-6AE8-C1A2-7E3E248043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087" y="3452514"/>
            <a:ext cx="8415513" cy="5610342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141F30AA-FC70-2AA6-157F-4A448AF1A9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999" y="3362085"/>
            <a:ext cx="8567913" cy="57119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668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2169" y="0"/>
            <a:ext cx="7117241" cy="1279796"/>
            <a:chOff x="0" y="0"/>
            <a:chExt cx="1874500" cy="3370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74500" cy="337066"/>
            </a:xfrm>
            <a:custGeom>
              <a:avLst/>
              <a:gdLst/>
              <a:ahLst/>
              <a:cxnLst/>
              <a:rect l="l" t="t" r="r" b="b"/>
              <a:pathLst>
                <a:path w="1874500" h="337066">
                  <a:moveTo>
                    <a:pt x="55476" y="0"/>
                  </a:moveTo>
                  <a:lnTo>
                    <a:pt x="1819023" y="0"/>
                  </a:lnTo>
                  <a:cubicBezTo>
                    <a:pt x="1849662" y="0"/>
                    <a:pt x="1874500" y="24838"/>
                    <a:pt x="1874500" y="55476"/>
                  </a:cubicBezTo>
                  <a:lnTo>
                    <a:pt x="1874500" y="281589"/>
                  </a:lnTo>
                  <a:cubicBezTo>
                    <a:pt x="1874500" y="296303"/>
                    <a:pt x="1868655" y="310413"/>
                    <a:pt x="1858251" y="320817"/>
                  </a:cubicBezTo>
                  <a:cubicBezTo>
                    <a:pt x="1847847" y="331221"/>
                    <a:pt x="1833737" y="337066"/>
                    <a:pt x="1819023" y="337066"/>
                  </a:cubicBezTo>
                  <a:lnTo>
                    <a:pt x="55476" y="337066"/>
                  </a:lnTo>
                  <a:cubicBezTo>
                    <a:pt x="24838" y="337066"/>
                    <a:pt x="0" y="312228"/>
                    <a:pt x="0" y="281589"/>
                  </a:cubicBezTo>
                  <a:lnTo>
                    <a:pt x="0" y="55476"/>
                  </a:lnTo>
                  <a:cubicBezTo>
                    <a:pt x="0" y="24838"/>
                    <a:pt x="24838" y="0"/>
                    <a:pt x="55476" y="0"/>
                  </a:cubicBezTo>
                  <a:close/>
                </a:path>
              </a:pathLst>
            </a:custGeom>
            <a:solidFill>
              <a:srgbClr val="94A83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874500" cy="3846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4047120" y="1981238"/>
            <a:ext cx="1443670" cy="1070120"/>
          </a:xfrm>
          <a:custGeom>
            <a:avLst/>
            <a:gdLst/>
            <a:ahLst/>
            <a:cxnLst/>
            <a:rect l="l" t="t" r="r" b="b"/>
            <a:pathLst>
              <a:path w="1443670" h="1070120">
                <a:moveTo>
                  <a:pt x="0" y="0"/>
                </a:moveTo>
                <a:lnTo>
                  <a:pt x="1443670" y="0"/>
                </a:lnTo>
                <a:lnTo>
                  <a:pt x="1443670" y="1070120"/>
                </a:lnTo>
                <a:lnTo>
                  <a:pt x="0" y="10701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284569" y="1981238"/>
            <a:ext cx="3406221" cy="1070120"/>
            <a:chOff x="0" y="0"/>
            <a:chExt cx="897112" cy="2818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97112" cy="281842"/>
            </a:xfrm>
            <a:custGeom>
              <a:avLst/>
              <a:gdLst/>
              <a:ahLst/>
              <a:cxnLst/>
              <a:rect l="l" t="t" r="r" b="b"/>
              <a:pathLst>
                <a:path w="897112" h="281842">
                  <a:moveTo>
                    <a:pt x="115917" y="0"/>
                  </a:moveTo>
                  <a:lnTo>
                    <a:pt x="781195" y="0"/>
                  </a:lnTo>
                  <a:cubicBezTo>
                    <a:pt x="845214" y="0"/>
                    <a:pt x="897112" y="51898"/>
                    <a:pt x="897112" y="115917"/>
                  </a:cubicBezTo>
                  <a:lnTo>
                    <a:pt x="897112" y="165926"/>
                  </a:lnTo>
                  <a:cubicBezTo>
                    <a:pt x="897112" y="229945"/>
                    <a:pt x="845214" y="281842"/>
                    <a:pt x="781195" y="281842"/>
                  </a:cubicBezTo>
                  <a:lnTo>
                    <a:pt x="115917" y="281842"/>
                  </a:lnTo>
                  <a:cubicBezTo>
                    <a:pt x="51898" y="281842"/>
                    <a:pt x="0" y="229945"/>
                    <a:pt x="0" y="165926"/>
                  </a:cubicBezTo>
                  <a:lnTo>
                    <a:pt x="0" y="115917"/>
                  </a:lnTo>
                  <a:cubicBezTo>
                    <a:pt x="0" y="51898"/>
                    <a:pt x="51898" y="0"/>
                    <a:pt x="115917" y="0"/>
                  </a:cubicBezTo>
                  <a:close/>
                </a:path>
              </a:pathLst>
            </a:custGeom>
            <a:solidFill>
              <a:srgbClr val="232C56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897112" cy="3294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444106" y="1821527"/>
            <a:ext cx="3406221" cy="1070120"/>
            <a:chOff x="0" y="0"/>
            <a:chExt cx="897112" cy="28184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97112" cy="281842"/>
            </a:xfrm>
            <a:custGeom>
              <a:avLst/>
              <a:gdLst/>
              <a:ahLst/>
              <a:cxnLst/>
              <a:rect l="l" t="t" r="r" b="b"/>
              <a:pathLst>
                <a:path w="897112" h="281842">
                  <a:moveTo>
                    <a:pt x="115917" y="0"/>
                  </a:moveTo>
                  <a:lnTo>
                    <a:pt x="781195" y="0"/>
                  </a:lnTo>
                  <a:cubicBezTo>
                    <a:pt x="845214" y="0"/>
                    <a:pt x="897112" y="51898"/>
                    <a:pt x="897112" y="115917"/>
                  </a:cubicBezTo>
                  <a:lnTo>
                    <a:pt x="897112" y="165926"/>
                  </a:lnTo>
                  <a:cubicBezTo>
                    <a:pt x="897112" y="229945"/>
                    <a:pt x="845214" y="281842"/>
                    <a:pt x="781195" y="281842"/>
                  </a:cubicBezTo>
                  <a:lnTo>
                    <a:pt x="115917" y="281842"/>
                  </a:lnTo>
                  <a:cubicBezTo>
                    <a:pt x="51898" y="281842"/>
                    <a:pt x="0" y="229945"/>
                    <a:pt x="0" y="165926"/>
                  </a:cubicBezTo>
                  <a:lnTo>
                    <a:pt x="0" y="115917"/>
                  </a:lnTo>
                  <a:cubicBezTo>
                    <a:pt x="0" y="51898"/>
                    <a:pt x="51898" y="0"/>
                    <a:pt x="115917" y="0"/>
                  </a:cubicBezTo>
                  <a:close/>
                </a:path>
              </a:pathLst>
            </a:custGeom>
            <a:solidFill>
              <a:srgbClr val="232C56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897112" cy="3294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3645667" y="1429245"/>
            <a:ext cx="1640844" cy="1462402"/>
          </a:xfrm>
          <a:custGeom>
            <a:avLst/>
            <a:gdLst/>
            <a:ahLst/>
            <a:cxnLst/>
            <a:rect l="l" t="t" r="r" b="b"/>
            <a:pathLst>
              <a:path w="1640844" h="1462402">
                <a:moveTo>
                  <a:pt x="0" y="0"/>
                </a:moveTo>
                <a:lnTo>
                  <a:pt x="1640844" y="0"/>
                </a:lnTo>
                <a:lnTo>
                  <a:pt x="1640844" y="1462402"/>
                </a:lnTo>
                <a:lnTo>
                  <a:pt x="0" y="14624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3874012" y="3538320"/>
            <a:ext cx="1184154" cy="1482509"/>
          </a:xfrm>
          <a:custGeom>
            <a:avLst/>
            <a:gdLst/>
            <a:ahLst/>
            <a:cxnLst/>
            <a:rect l="l" t="t" r="r" b="b"/>
            <a:pathLst>
              <a:path w="1184154" h="1482509">
                <a:moveTo>
                  <a:pt x="0" y="0"/>
                </a:moveTo>
                <a:lnTo>
                  <a:pt x="1184154" y="0"/>
                </a:lnTo>
                <a:lnTo>
                  <a:pt x="1184154" y="1482509"/>
                </a:lnTo>
                <a:lnTo>
                  <a:pt x="0" y="14825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244332" y="102624"/>
            <a:ext cx="6354618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22"/>
              </a:lnSpc>
              <a:spcBef>
                <a:spcPct val="0"/>
              </a:spcBef>
            </a:pPr>
            <a:r>
              <a:rPr lang="en-US" sz="4944" b="1" dirty="0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4.Choix techniques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20246" y="1979024"/>
            <a:ext cx="3070544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22"/>
              </a:lnSpc>
              <a:spcBef>
                <a:spcPct val="0"/>
              </a:spcBef>
            </a:pPr>
            <a:r>
              <a:rPr lang="en-US" sz="4944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Frontend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44332" y="3479983"/>
            <a:ext cx="3802789" cy="1997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1163" lvl="1" indent="-410581" algn="l">
              <a:lnSpc>
                <a:spcPts val="5324"/>
              </a:lnSpc>
              <a:buFont typeface="Arial"/>
              <a:buChar char="•"/>
            </a:pPr>
            <a:r>
              <a:rPr lang="en-US" sz="3803" b="1" dirty="0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HTML5</a:t>
            </a:r>
          </a:p>
          <a:p>
            <a:pPr marL="821163" lvl="1" indent="-410581" algn="l">
              <a:lnSpc>
                <a:spcPts val="5324"/>
              </a:lnSpc>
              <a:buFont typeface="Arial"/>
              <a:buChar char="•"/>
            </a:pPr>
            <a:r>
              <a:rPr lang="en-US" sz="3803" b="1" dirty="0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CSS3</a:t>
            </a:r>
          </a:p>
          <a:p>
            <a:pPr marL="821163" lvl="1" indent="-410581" algn="l">
              <a:lnSpc>
                <a:spcPts val="5324"/>
              </a:lnSpc>
              <a:buFont typeface="Arial"/>
              <a:buChar char="•"/>
            </a:pPr>
            <a:r>
              <a:rPr lang="en-US" sz="3803" b="1" dirty="0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tailwind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810292" y="1819313"/>
            <a:ext cx="2998332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22"/>
              </a:lnSpc>
              <a:spcBef>
                <a:spcPct val="0"/>
              </a:spcBef>
            </a:pPr>
            <a:r>
              <a:rPr lang="en-US" sz="4944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Backend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02403" y="2947217"/>
            <a:ext cx="4655797" cy="638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04" lvl="1" algn="l">
              <a:lnSpc>
                <a:spcPts val="5319"/>
              </a:lnSpc>
            </a:pPr>
            <a:r>
              <a:rPr lang="en-US" sz="3799" b="1" dirty="0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Laravel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9686972" y="4110420"/>
            <a:ext cx="3362164" cy="1070120"/>
            <a:chOff x="0" y="0"/>
            <a:chExt cx="885508" cy="28184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85508" cy="281842"/>
            </a:xfrm>
            <a:custGeom>
              <a:avLst/>
              <a:gdLst/>
              <a:ahLst/>
              <a:cxnLst/>
              <a:rect l="l" t="t" r="r" b="b"/>
              <a:pathLst>
                <a:path w="885508" h="281842">
                  <a:moveTo>
                    <a:pt x="117436" y="0"/>
                  </a:moveTo>
                  <a:lnTo>
                    <a:pt x="768073" y="0"/>
                  </a:lnTo>
                  <a:cubicBezTo>
                    <a:pt x="799219" y="0"/>
                    <a:pt x="829089" y="12373"/>
                    <a:pt x="851112" y="34396"/>
                  </a:cubicBezTo>
                  <a:cubicBezTo>
                    <a:pt x="873136" y="56420"/>
                    <a:pt x="885508" y="86290"/>
                    <a:pt x="885508" y="117436"/>
                  </a:cubicBezTo>
                  <a:lnTo>
                    <a:pt x="885508" y="164407"/>
                  </a:lnTo>
                  <a:cubicBezTo>
                    <a:pt x="885508" y="229265"/>
                    <a:pt x="832931" y="281842"/>
                    <a:pt x="768073" y="281842"/>
                  </a:cubicBezTo>
                  <a:lnTo>
                    <a:pt x="117436" y="281842"/>
                  </a:lnTo>
                  <a:cubicBezTo>
                    <a:pt x="86290" y="281842"/>
                    <a:pt x="56420" y="269470"/>
                    <a:pt x="34396" y="247446"/>
                  </a:cubicBezTo>
                  <a:cubicBezTo>
                    <a:pt x="12373" y="225423"/>
                    <a:pt x="0" y="195553"/>
                    <a:pt x="0" y="164407"/>
                  </a:cubicBezTo>
                  <a:lnTo>
                    <a:pt x="0" y="117436"/>
                  </a:lnTo>
                  <a:cubicBezTo>
                    <a:pt x="0" y="86290"/>
                    <a:pt x="12373" y="56420"/>
                    <a:pt x="34396" y="34396"/>
                  </a:cubicBezTo>
                  <a:cubicBezTo>
                    <a:pt x="56420" y="12373"/>
                    <a:pt x="86290" y="0"/>
                    <a:pt x="117436" y="0"/>
                  </a:cubicBezTo>
                  <a:close/>
                </a:path>
              </a:pathLst>
            </a:custGeom>
            <a:solidFill>
              <a:srgbClr val="232C56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885508" cy="3294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9686972" y="4200745"/>
            <a:ext cx="3362164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22"/>
              </a:lnSpc>
              <a:spcBef>
                <a:spcPct val="0"/>
              </a:spcBef>
            </a:pPr>
            <a:r>
              <a:rPr lang="en-US" sz="4944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Database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402403" y="5439661"/>
            <a:ext cx="4655797" cy="694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0408" lvl="1" indent="-410204" algn="l">
              <a:lnSpc>
                <a:spcPts val="5319"/>
              </a:lnSpc>
              <a:buFont typeface="Arial"/>
              <a:buChar char="•"/>
            </a:pPr>
            <a:r>
              <a:rPr lang="en-US" sz="3799" b="1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PostgreSQL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4768955" y="6314692"/>
            <a:ext cx="7117241" cy="1279796"/>
            <a:chOff x="0" y="0"/>
            <a:chExt cx="1874500" cy="33706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874500" cy="337066"/>
            </a:xfrm>
            <a:custGeom>
              <a:avLst/>
              <a:gdLst/>
              <a:ahLst/>
              <a:cxnLst/>
              <a:rect l="l" t="t" r="r" b="b"/>
              <a:pathLst>
                <a:path w="1874500" h="337066">
                  <a:moveTo>
                    <a:pt x="55476" y="0"/>
                  </a:moveTo>
                  <a:lnTo>
                    <a:pt x="1819023" y="0"/>
                  </a:lnTo>
                  <a:cubicBezTo>
                    <a:pt x="1849662" y="0"/>
                    <a:pt x="1874500" y="24838"/>
                    <a:pt x="1874500" y="55476"/>
                  </a:cubicBezTo>
                  <a:lnTo>
                    <a:pt x="1874500" y="281589"/>
                  </a:lnTo>
                  <a:cubicBezTo>
                    <a:pt x="1874500" y="296303"/>
                    <a:pt x="1868655" y="310413"/>
                    <a:pt x="1858251" y="320817"/>
                  </a:cubicBezTo>
                  <a:cubicBezTo>
                    <a:pt x="1847847" y="331221"/>
                    <a:pt x="1833737" y="337066"/>
                    <a:pt x="1819023" y="337066"/>
                  </a:cubicBezTo>
                  <a:lnTo>
                    <a:pt x="55476" y="337066"/>
                  </a:lnTo>
                  <a:cubicBezTo>
                    <a:pt x="24838" y="337066"/>
                    <a:pt x="0" y="312228"/>
                    <a:pt x="0" y="281589"/>
                  </a:cubicBezTo>
                  <a:lnTo>
                    <a:pt x="0" y="55476"/>
                  </a:lnTo>
                  <a:cubicBezTo>
                    <a:pt x="0" y="24838"/>
                    <a:pt x="24838" y="0"/>
                    <a:pt x="55476" y="0"/>
                  </a:cubicBezTo>
                  <a:close/>
                </a:path>
              </a:pathLst>
            </a:custGeom>
            <a:solidFill>
              <a:srgbClr val="94A83A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1874500" cy="3846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6106323" y="6552817"/>
            <a:ext cx="5261731" cy="735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70"/>
              </a:lnSpc>
              <a:spcBef>
                <a:spcPct val="0"/>
              </a:spcBef>
            </a:pPr>
            <a:r>
              <a:rPr lang="en-US" sz="4050" b="1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Outils utilisés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917917" y="8127889"/>
            <a:ext cx="10548786" cy="559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b="1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Visual Studio Code (VS Code)-Canva-GitHub-photoshp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668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400" y="213224"/>
            <a:ext cx="7117241" cy="1279796"/>
            <a:chOff x="0" y="0"/>
            <a:chExt cx="1874500" cy="3370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74500" cy="337066"/>
            </a:xfrm>
            <a:custGeom>
              <a:avLst/>
              <a:gdLst/>
              <a:ahLst/>
              <a:cxnLst/>
              <a:rect l="l" t="t" r="r" b="b"/>
              <a:pathLst>
                <a:path w="1874500" h="337066">
                  <a:moveTo>
                    <a:pt x="55476" y="0"/>
                  </a:moveTo>
                  <a:lnTo>
                    <a:pt x="1819023" y="0"/>
                  </a:lnTo>
                  <a:cubicBezTo>
                    <a:pt x="1849662" y="0"/>
                    <a:pt x="1874500" y="24838"/>
                    <a:pt x="1874500" y="55476"/>
                  </a:cubicBezTo>
                  <a:lnTo>
                    <a:pt x="1874500" y="281589"/>
                  </a:lnTo>
                  <a:cubicBezTo>
                    <a:pt x="1874500" y="296303"/>
                    <a:pt x="1868655" y="310413"/>
                    <a:pt x="1858251" y="320817"/>
                  </a:cubicBezTo>
                  <a:cubicBezTo>
                    <a:pt x="1847847" y="331221"/>
                    <a:pt x="1833737" y="337066"/>
                    <a:pt x="1819023" y="337066"/>
                  </a:cubicBezTo>
                  <a:lnTo>
                    <a:pt x="55476" y="337066"/>
                  </a:lnTo>
                  <a:cubicBezTo>
                    <a:pt x="24838" y="337066"/>
                    <a:pt x="0" y="312228"/>
                    <a:pt x="0" y="281589"/>
                  </a:cubicBezTo>
                  <a:lnTo>
                    <a:pt x="0" y="55476"/>
                  </a:lnTo>
                  <a:cubicBezTo>
                    <a:pt x="0" y="24838"/>
                    <a:pt x="24838" y="0"/>
                    <a:pt x="55476" y="0"/>
                  </a:cubicBezTo>
                  <a:close/>
                </a:path>
              </a:pathLst>
            </a:custGeom>
            <a:solidFill>
              <a:srgbClr val="94A83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874500" cy="3846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86365" y="1753394"/>
            <a:ext cx="4451842" cy="751122"/>
            <a:chOff x="0" y="0"/>
            <a:chExt cx="1172502" cy="19782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72502" cy="197826"/>
            </a:xfrm>
            <a:custGeom>
              <a:avLst/>
              <a:gdLst/>
              <a:ahLst/>
              <a:cxnLst/>
              <a:rect l="l" t="t" r="r" b="b"/>
              <a:pathLst>
                <a:path w="1172502" h="197826">
                  <a:moveTo>
                    <a:pt x="88691" y="0"/>
                  </a:moveTo>
                  <a:lnTo>
                    <a:pt x="1083811" y="0"/>
                  </a:lnTo>
                  <a:cubicBezTo>
                    <a:pt x="1132793" y="0"/>
                    <a:pt x="1172502" y="39708"/>
                    <a:pt x="1172502" y="88691"/>
                  </a:cubicBezTo>
                  <a:lnTo>
                    <a:pt x="1172502" y="109135"/>
                  </a:lnTo>
                  <a:cubicBezTo>
                    <a:pt x="1172502" y="158118"/>
                    <a:pt x="1132793" y="197826"/>
                    <a:pt x="1083811" y="197826"/>
                  </a:cubicBezTo>
                  <a:lnTo>
                    <a:pt x="88691" y="197826"/>
                  </a:lnTo>
                  <a:cubicBezTo>
                    <a:pt x="39708" y="197826"/>
                    <a:pt x="0" y="158118"/>
                    <a:pt x="0" y="109135"/>
                  </a:cubicBezTo>
                  <a:lnTo>
                    <a:pt x="0" y="88691"/>
                  </a:lnTo>
                  <a:cubicBezTo>
                    <a:pt x="0" y="39708"/>
                    <a:pt x="39708" y="0"/>
                    <a:pt x="88691" y="0"/>
                  </a:cubicBezTo>
                  <a:close/>
                </a:path>
              </a:pathLst>
            </a:custGeom>
            <a:solidFill>
              <a:srgbClr val="94A83A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172502" cy="2454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538751" y="1753394"/>
            <a:ext cx="7011951" cy="751122"/>
            <a:chOff x="0" y="0"/>
            <a:chExt cx="1746864" cy="19782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46864" cy="197826"/>
            </a:xfrm>
            <a:custGeom>
              <a:avLst/>
              <a:gdLst/>
              <a:ahLst/>
              <a:cxnLst/>
              <a:rect l="l" t="t" r="r" b="b"/>
              <a:pathLst>
                <a:path w="1746864" h="197826">
                  <a:moveTo>
                    <a:pt x="59530" y="0"/>
                  </a:moveTo>
                  <a:lnTo>
                    <a:pt x="1687334" y="0"/>
                  </a:lnTo>
                  <a:cubicBezTo>
                    <a:pt x="1720211" y="0"/>
                    <a:pt x="1746864" y="26652"/>
                    <a:pt x="1746864" y="59530"/>
                  </a:cubicBezTo>
                  <a:lnTo>
                    <a:pt x="1746864" y="138297"/>
                  </a:lnTo>
                  <a:cubicBezTo>
                    <a:pt x="1746864" y="154085"/>
                    <a:pt x="1740592" y="169227"/>
                    <a:pt x="1729428" y="180391"/>
                  </a:cubicBezTo>
                  <a:cubicBezTo>
                    <a:pt x="1718264" y="191555"/>
                    <a:pt x="1703122" y="197826"/>
                    <a:pt x="1687334" y="197826"/>
                  </a:cubicBezTo>
                  <a:lnTo>
                    <a:pt x="59530" y="197826"/>
                  </a:lnTo>
                  <a:cubicBezTo>
                    <a:pt x="43741" y="197826"/>
                    <a:pt x="28600" y="191555"/>
                    <a:pt x="17436" y="180391"/>
                  </a:cubicBezTo>
                  <a:cubicBezTo>
                    <a:pt x="6272" y="169227"/>
                    <a:pt x="0" y="154085"/>
                    <a:pt x="0" y="138297"/>
                  </a:cubicBezTo>
                  <a:lnTo>
                    <a:pt x="0" y="59530"/>
                  </a:lnTo>
                  <a:cubicBezTo>
                    <a:pt x="0" y="43741"/>
                    <a:pt x="6272" y="28600"/>
                    <a:pt x="17436" y="17436"/>
                  </a:cubicBezTo>
                  <a:cubicBezTo>
                    <a:pt x="28600" y="6272"/>
                    <a:pt x="43741" y="0"/>
                    <a:pt x="59530" y="0"/>
                  </a:cubicBezTo>
                  <a:close/>
                </a:path>
              </a:pathLst>
            </a:custGeom>
            <a:solidFill>
              <a:srgbClr val="94A83A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746864" cy="2454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86365" y="5979251"/>
            <a:ext cx="4451842" cy="751122"/>
            <a:chOff x="0" y="0"/>
            <a:chExt cx="1172502" cy="19782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72502" cy="197826"/>
            </a:xfrm>
            <a:custGeom>
              <a:avLst/>
              <a:gdLst/>
              <a:ahLst/>
              <a:cxnLst/>
              <a:rect l="l" t="t" r="r" b="b"/>
              <a:pathLst>
                <a:path w="1172502" h="197826">
                  <a:moveTo>
                    <a:pt x="88691" y="0"/>
                  </a:moveTo>
                  <a:lnTo>
                    <a:pt x="1083811" y="0"/>
                  </a:lnTo>
                  <a:cubicBezTo>
                    <a:pt x="1132793" y="0"/>
                    <a:pt x="1172502" y="39708"/>
                    <a:pt x="1172502" y="88691"/>
                  </a:cubicBezTo>
                  <a:lnTo>
                    <a:pt x="1172502" y="109135"/>
                  </a:lnTo>
                  <a:cubicBezTo>
                    <a:pt x="1172502" y="158118"/>
                    <a:pt x="1132793" y="197826"/>
                    <a:pt x="1083811" y="197826"/>
                  </a:cubicBezTo>
                  <a:lnTo>
                    <a:pt x="88691" y="197826"/>
                  </a:lnTo>
                  <a:cubicBezTo>
                    <a:pt x="39708" y="197826"/>
                    <a:pt x="0" y="158118"/>
                    <a:pt x="0" y="109135"/>
                  </a:cubicBezTo>
                  <a:lnTo>
                    <a:pt x="0" y="88691"/>
                  </a:lnTo>
                  <a:cubicBezTo>
                    <a:pt x="0" y="39708"/>
                    <a:pt x="39708" y="0"/>
                    <a:pt x="88691" y="0"/>
                  </a:cubicBezTo>
                  <a:close/>
                </a:path>
              </a:pathLst>
            </a:custGeom>
            <a:solidFill>
              <a:srgbClr val="94A83A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1172502" cy="2454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918079" y="5979251"/>
            <a:ext cx="4451842" cy="751122"/>
            <a:chOff x="0" y="0"/>
            <a:chExt cx="1172502" cy="19782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172502" cy="197826"/>
            </a:xfrm>
            <a:custGeom>
              <a:avLst/>
              <a:gdLst/>
              <a:ahLst/>
              <a:cxnLst/>
              <a:rect l="l" t="t" r="r" b="b"/>
              <a:pathLst>
                <a:path w="1172502" h="197826">
                  <a:moveTo>
                    <a:pt x="88691" y="0"/>
                  </a:moveTo>
                  <a:lnTo>
                    <a:pt x="1083811" y="0"/>
                  </a:lnTo>
                  <a:cubicBezTo>
                    <a:pt x="1132793" y="0"/>
                    <a:pt x="1172502" y="39708"/>
                    <a:pt x="1172502" y="88691"/>
                  </a:cubicBezTo>
                  <a:lnTo>
                    <a:pt x="1172502" y="109135"/>
                  </a:lnTo>
                  <a:cubicBezTo>
                    <a:pt x="1172502" y="158118"/>
                    <a:pt x="1132793" y="197826"/>
                    <a:pt x="1083811" y="197826"/>
                  </a:cubicBezTo>
                  <a:lnTo>
                    <a:pt x="88691" y="197826"/>
                  </a:lnTo>
                  <a:cubicBezTo>
                    <a:pt x="39708" y="197826"/>
                    <a:pt x="0" y="158118"/>
                    <a:pt x="0" y="109135"/>
                  </a:cubicBezTo>
                  <a:lnTo>
                    <a:pt x="0" y="88691"/>
                  </a:lnTo>
                  <a:cubicBezTo>
                    <a:pt x="0" y="39708"/>
                    <a:pt x="39708" y="0"/>
                    <a:pt x="88691" y="0"/>
                  </a:cubicBezTo>
                  <a:close/>
                </a:path>
              </a:pathLst>
            </a:custGeom>
            <a:solidFill>
              <a:srgbClr val="94A83A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1172502" cy="2454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286365" y="473709"/>
            <a:ext cx="7117241" cy="644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5.Réalisation(démonstration)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86365" y="1801612"/>
            <a:ext cx="4451842" cy="559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b="1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Interface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537844" y="1846394"/>
            <a:ext cx="7011951" cy="4698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b="1" dirty="0" err="1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Liste</a:t>
            </a:r>
            <a:r>
              <a:rPr lang="en-US" sz="2799" b="1" dirty="0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 des </a:t>
            </a:r>
            <a:r>
              <a:rPr lang="en-US" sz="2799" b="1" dirty="0" err="1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entreprises</a:t>
            </a:r>
            <a:r>
              <a:rPr lang="en-US" sz="2799" b="1" dirty="0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 et des </a:t>
            </a:r>
            <a:r>
              <a:rPr lang="en-US" sz="2799" b="1" dirty="0" err="1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Maalems</a:t>
            </a:r>
            <a:endParaRPr lang="en-US" sz="2799" b="1" dirty="0">
              <a:solidFill>
                <a:srgbClr val="FFFFFF"/>
              </a:solidFill>
              <a:latin typeface="Telegraf Medium"/>
              <a:ea typeface="Telegraf Medium"/>
              <a:cs typeface="Telegraf Medium"/>
              <a:sym typeface="Telegraf Medium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52400" y="6027469"/>
            <a:ext cx="4451842" cy="559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b="1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Simmulateur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538751" y="6027469"/>
            <a:ext cx="4451842" cy="559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b="1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Dashboard</a:t>
            </a:r>
          </a:p>
        </p:txBody>
      </p:sp>
      <p:pic>
        <p:nvPicPr>
          <p:cNvPr id="28" name="Image 27">
            <a:extLst>
              <a:ext uri="{FF2B5EF4-FFF2-40B4-BE49-F238E27FC236}">
                <a16:creationId xmlns:a16="http://schemas.microsoft.com/office/drawing/2014/main" id="{762B7500-AC40-1BB8-C7CE-276CCAD336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365" y="2939038"/>
            <a:ext cx="6042851" cy="2898498"/>
          </a:xfrm>
          <a:prstGeom prst="rect">
            <a:avLst/>
          </a:prstGeom>
        </p:spPr>
      </p:pic>
      <p:pic>
        <p:nvPicPr>
          <p:cNvPr id="30" name="Image 29">
            <a:extLst>
              <a:ext uri="{FF2B5EF4-FFF2-40B4-BE49-F238E27FC236}">
                <a16:creationId xmlns:a16="http://schemas.microsoft.com/office/drawing/2014/main" id="{E61D8A18-0D2F-A1A1-410A-D81989933AA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230" y="6959418"/>
            <a:ext cx="6287119" cy="3101010"/>
          </a:xfrm>
          <a:prstGeom prst="rect">
            <a:avLst/>
          </a:prstGeom>
        </p:spPr>
      </p:pic>
      <p:pic>
        <p:nvPicPr>
          <p:cNvPr id="32" name="Image 31">
            <a:extLst>
              <a:ext uri="{FF2B5EF4-FFF2-40B4-BE49-F238E27FC236}">
                <a16:creationId xmlns:a16="http://schemas.microsoft.com/office/drawing/2014/main" id="{486C7FB9-B262-7656-246C-80A97FD50CD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9641" y="2460801"/>
            <a:ext cx="6208319" cy="3234953"/>
          </a:xfrm>
          <a:prstGeom prst="rect">
            <a:avLst/>
          </a:prstGeom>
        </p:spPr>
      </p:pic>
      <p:pic>
        <p:nvPicPr>
          <p:cNvPr id="35" name="Image 34">
            <a:extLst>
              <a:ext uri="{FF2B5EF4-FFF2-40B4-BE49-F238E27FC236}">
                <a16:creationId xmlns:a16="http://schemas.microsoft.com/office/drawing/2014/main" id="{07B83203-6015-9F86-BAB4-89722CD2E1D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3606" y="6959418"/>
            <a:ext cx="6533836" cy="31536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668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6225" y="146686"/>
            <a:ext cx="7117241" cy="1279796"/>
            <a:chOff x="0" y="0"/>
            <a:chExt cx="1874500" cy="3370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74500" cy="337066"/>
            </a:xfrm>
            <a:custGeom>
              <a:avLst/>
              <a:gdLst/>
              <a:ahLst/>
              <a:cxnLst/>
              <a:rect l="l" t="t" r="r" b="b"/>
              <a:pathLst>
                <a:path w="1874500" h="337066">
                  <a:moveTo>
                    <a:pt x="55476" y="0"/>
                  </a:moveTo>
                  <a:lnTo>
                    <a:pt x="1819023" y="0"/>
                  </a:lnTo>
                  <a:cubicBezTo>
                    <a:pt x="1849662" y="0"/>
                    <a:pt x="1874500" y="24838"/>
                    <a:pt x="1874500" y="55476"/>
                  </a:cubicBezTo>
                  <a:lnTo>
                    <a:pt x="1874500" y="281589"/>
                  </a:lnTo>
                  <a:cubicBezTo>
                    <a:pt x="1874500" y="296303"/>
                    <a:pt x="1868655" y="310413"/>
                    <a:pt x="1858251" y="320817"/>
                  </a:cubicBezTo>
                  <a:cubicBezTo>
                    <a:pt x="1847847" y="331221"/>
                    <a:pt x="1833737" y="337066"/>
                    <a:pt x="1819023" y="337066"/>
                  </a:cubicBezTo>
                  <a:lnTo>
                    <a:pt x="55476" y="337066"/>
                  </a:lnTo>
                  <a:cubicBezTo>
                    <a:pt x="24838" y="337066"/>
                    <a:pt x="0" y="312228"/>
                    <a:pt x="0" y="281589"/>
                  </a:cubicBezTo>
                  <a:lnTo>
                    <a:pt x="0" y="55476"/>
                  </a:lnTo>
                  <a:cubicBezTo>
                    <a:pt x="0" y="24838"/>
                    <a:pt x="24838" y="0"/>
                    <a:pt x="55476" y="0"/>
                  </a:cubicBezTo>
                  <a:close/>
                </a:path>
              </a:pathLst>
            </a:custGeom>
            <a:solidFill>
              <a:srgbClr val="94A83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874500" cy="3846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6225" y="1597932"/>
            <a:ext cx="6764792" cy="949375"/>
            <a:chOff x="0" y="0"/>
            <a:chExt cx="1781674" cy="25004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81674" cy="250041"/>
            </a:xfrm>
            <a:custGeom>
              <a:avLst/>
              <a:gdLst/>
              <a:ahLst/>
              <a:cxnLst/>
              <a:rect l="l" t="t" r="r" b="b"/>
              <a:pathLst>
                <a:path w="1781674" h="250041">
                  <a:moveTo>
                    <a:pt x="58367" y="0"/>
                  </a:moveTo>
                  <a:lnTo>
                    <a:pt x="1723307" y="0"/>
                  </a:lnTo>
                  <a:cubicBezTo>
                    <a:pt x="1755542" y="0"/>
                    <a:pt x="1781674" y="26132"/>
                    <a:pt x="1781674" y="58367"/>
                  </a:cubicBezTo>
                  <a:lnTo>
                    <a:pt x="1781674" y="191675"/>
                  </a:lnTo>
                  <a:cubicBezTo>
                    <a:pt x="1781674" y="223909"/>
                    <a:pt x="1755542" y="250041"/>
                    <a:pt x="1723307" y="250041"/>
                  </a:cubicBezTo>
                  <a:lnTo>
                    <a:pt x="58367" y="250041"/>
                  </a:lnTo>
                  <a:cubicBezTo>
                    <a:pt x="26132" y="250041"/>
                    <a:pt x="0" y="223909"/>
                    <a:pt x="0" y="191675"/>
                  </a:cubicBezTo>
                  <a:lnTo>
                    <a:pt x="0" y="58367"/>
                  </a:lnTo>
                  <a:cubicBezTo>
                    <a:pt x="0" y="26132"/>
                    <a:pt x="26132" y="0"/>
                    <a:pt x="58367" y="0"/>
                  </a:cubicBezTo>
                  <a:close/>
                </a:path>
              </a:pathLst>
            </a:custGeom>
            <a:solidFill>
              <a:srgbClr val="94A83A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781674" cy="2976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76225" y="2852107"/>
            <a:ext cx="7315200" cy="1837944"/>
          </a:xfrm>
          <a:custGeom>
            <a:avLst/>
            <a:gdLst/>
            <a:ahLst/>
            <a:cxnLst/>
            <a:rect l="l" t="t" r="r" b="b"/>
            <a:pathLst>
              <a:path w="7315200" h="1837944">
                <a:moveTo>
                  <a:pt x="0" y="0"/>
                </a:moveTo>
                <a:lnTo>
                  <a:pt x="7315200" y="0"/>
                </a:lnTo>
                <a:lnTo>
                  <a:pt x="7315200" y="1837944"/>
                </a:lnTo>
                <a:lnTo>
                  <a:pt x="0" y="18379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76225" y="361133"/>
            <a:ext cx="7117241" cy="743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39"/>
              </a:lnSpc>
              <a:spcBef>
                <a:spcPct val="0"/>
              </a:spcBef>
            </a:pPr>
            <a:r>
              <a:rPr lang="en-US" sz="4099" b="1">
                <a:solidFill>
                  <a:srgbClr val="000000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6.Difficultés rencontrées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0" y="1820000"/>
            <a:ext cx="7117241" cy="417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b="1">
                <a:solidFill>
                  <a:srgbClr val="000000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Difficulté 1 : Conception de la base de données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9249" y="3071182"/>
            <a:ext cx="6544217" cy="1272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b="1">
                <a:solidFill>
                  <a:srgbClr val="000000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Définir les relations entre les utilisateurs, les projets immobiliers, les simulations et les professionnels.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0142059" y="1592328"/>
            <a:ext cx="6764792" cy="949375"/>
            <a:chOff x="0" y="0"/>
            <a:chExt cx="1781674" cy="25004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781674" cy="250041"/>
            </a:xfrm>
            <a:custGeom>
              <a:avLst/>
              <a:gdLst/>
              <a:ahLst/>
              <a:cxnLst/>
              <a:rect l="l" t="t" r="r" b="b"/>
              <a:pathLst>
                <a:path w="1781674" h="250041">
                  <a:moveTo>
                    <a:pt x="58367" y="0"/>
                  </a:moveTo>
                  <a:lnTo>
                    <a:pt x="1723307" y="0"/>
                  </a:lnTo>
                  <a:cubicBezTo>
                    <a:pt x="1755542" y="0"/>
                    <a:pt x="1781674" y="26132"/>
                    <a:pt x="1781674" y="58367"/>
                  </a:cubicBezTo>
                  <a:lnTo>
                    <a:pt x="1781674" y="191675"/>
                  </a:lnTo>
                  <a:cubicBezTo>
                    <a:pt x="1781674" y="223909"/>
                    <a:pt x="1755542" y="250041"/>
                    <a:pt x="1723307" y="250041"/>
                  </a:cubicBezTo>
                  <a:lnTo>
                    <a:pt x="58367" y="250041"/>
                  </a:lnTo>
                  <a:cubicBezTo>
                    <a:pt x="26132" y="250041"/>
                    <a:pt x="0" y="223909"/>
                    <a:pt x="0" y="191675"/>
                  </a:cubicBezTo>
                  <a:lnTo>
                    <a:pt x="0" y="58367"/>
                  </a:lnTo>
                  <a:cubicBezTo>
                    <a:pt x="0" y="26132"/>
                    <a:pt x="26132" y="0"/>
                    <a:pt x="58367" y="0"/>
                  </a:cubicBezTo>
                  <a:close/>
                </a:path>
              </a:pathLst>
            </a:custGeom>
            <a:solidFill>
              <a:srgbClr val="94A83A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1781674" cy="2976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9965834" y="1825604"/>
            <a:ext cx="7117241" cy="417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b="1">
                <a:solidFill>
                  <a:srgbClr val="000000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Difficulté 2 : Affichage responsive</a:t>
            </a:r>
          </a:p>
        </p:txBody>
      </p:sp>
      <p:sp>
        <p:nvSpPr>
          <p:cNvPr id="16" name="Freeform 16"/>
          <p:cNvSpPr/>
          <p:nvPr/>
        </p:nvSpPr>
        <p:spPr>
          <a:xfrm>
            <a:off x="9866855" y="2826580"/>
            <a:ext cx="7315200" cy="1837944"/>
          </a:xfrm>
          <a:custGeom>
            <a:avLst/>
            <a:gdLst/>
            <a:ahLst/>
            <a:cxnLst/>
            <a:rect l="l" t="t" r="r" b="b"/>
            <a:pathLst>
              <a:path w="7315200" h="1837944">
                <a:moveTo>
                  <a:pt x="0" y="0"/>
                </a:moveTo>
                <a:lnTo>
                  <a:pt x="7315200" y="0"/>
                </a:lnTo>
                <a:lnTo>
                  <a:pt x="7315200" y="1837944"/>
                </a:lnTo>
                <a:lnTo>
                  <a:pt x="0" y="18379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0485939" y="3077453"/>
            <a:ext cx="6597137" cy="1301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4"/>
              </a:lnSpc>
              <a:spcBef>
                <a:spcPct val="0"/>
              </a:spcBef>
            </a:pPr>
            <a:r>
              <a:rPr lang="en-US" sz="2439" b="1">
                <a:solidFill>
                  <a:srgbClr val="000000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certaines pages du frontend n’étaient pas bien adaptées aux écrans mobiles, surtout les listes de projets et les formulaires.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4495800" y="4790863"/>
            <a:ext cx="9204879" cy="839234"/>
            <a:chOff x="0" y="0"/>
            <a:chExt cx="2236162" cy="22103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236162" cy="221033"/>
            </a:xfrm>
            <a:custGeom>
              <a:avLst/>
              <a:gdLst/>
              <a:ahLst/>
              <a:cxnLst/>
              <a:rect l="l" t="t" r="r" b="b"/>
              <a:pathLst>
                <a:path w="2236162" h="221033">
                  <a:moveTo>
                    <a:pt x="46504" y="0"/>
                  </a:moveTo>
                  <a:lnTo>
                    <a:pt x="2189658" y="0"/>
                  </a:lnTo>
                  <a:cubicBezTo>
                    <a:pt x="2201991" y="0"/>
                    <a:pt x="2213820" y="4900"/>
                    <a:pt x="2222541" y="13621"/>
                  </a:cubicBezTo>
                  <a:cubicBezTo>
                    <a:pt x="2231262" y="22342"/>
                    <a:pt x="2236162" y="34170"/>
                    <a:pt x="2236162" y="46504"/>
                  </a:cubicBezTo>
                  <a:lnTo>
                    <a:pt x="2236162" y="174529"/>
                  </a:lnTo>
                  <a:cubicBezTo>
                    <a:pt x="2236162" y="186863"/>
                    <a:pt x="2231262" y="198691"/>
                    <a:pt x="2222541" y="207412"/>
                  </a:cubicBezTo>
                  <a:cubicBezTo>
                    <a:pt x="2213820" y="216133"/>
                    <a:pt x="2201991" y="221033"/>
                    <a:pt x="2189658" y="221033"/>
                  </a:cubicBezTo>
                  <a:lnTo>
                    <a:pt x="46504" y="221033"/>
                  </a:lnTo>
                  <a:cubicBezTo>
                    <a:pt x="34170" y="221033"/>
                    <a:pt x="22342" y="216133"/>
                    <a:pt x="13621" y="207412"/>
                  </a:cubicBezTo>
                  <a:cubicBezTo>
                    <a:pt x="4900" y="198691"/>
                    <a:pt x="0" y="186863"/>
                    <a:pt x="0" y="174529"/>
                  </a:cubicBezTo>
                  <a:lnTo>
                    <a:pt x="0" y="46504"/>
                  </a:lnTo>
                  <a:cubicBezTo>
                    <a:pt x="0" y="34170"/>
                    <a:pt x="4900" y="22342"/>
                    <a:pt x="13621" y="13621"/>
                  </a:cubicBezTo>
                  <a:cubicBezTo>
                    <a:pt x="22342" y="4900"/>
                    <a:pt x="34170" y="0"/>
                    <a:pt x="46504" y="0"/>
                  </a:cubicBezTo>
                  <a:close/>
                </a:path>
              </a:pathLst>
            </a:custGeom>
            <a:solidFill>
              <a:srgbClr val="94A83A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2236162" cy="268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4160560" y="4994851"/>
            <a:ext cx="9966879" cy="3856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b="1" dirty="0" err="1">
                <a:solidFill>
                  <a:srgbClr val="000000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Difficulté</a:t>
            </a:r>
            <a:r>
              <a:rPr lang="en-US" sz="2299" b="1" dirty="0">
                <a:solidFill>
                  <a:srgbClr val="000000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 3 : </a:t>
            </a:r>
            <a:r>
              <a:rPr lang="en-US" sz="2299" b="1" dirty="0" err="1">
                <a:solidFill>
                  <a:srgbClr val="000000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Connexion</a:t>
            </a:r>
            <a:r>
              <a:rPr lang="en-US" sz="2299" b="1" dirty="0">
                <a:solidFill>
                  <a:srgbClr val="000000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 au backend et à la base PostgreSQL</a:t>
            </a:r>
          </a:p>
        </p:txBody>
      </p:sp>
      <p:sp>
        <p:nvSpPr>
          <p:cNvPr id="22" name="Freeform 22"/>
          <p:cNvSpPr/>
          <p:nvPr/>
        </p:nvSpPr>
        <p:spPr>
          <a:xfrm>
            <a:off x="5486400" y="5844792"/>
            <a:ext cx="7315200" cy="1837944"/>
          </a:xfrm>
          <a:custGeom>
            <a:avLst/>
            <a:gdLst/>
            <a:ahLst/>
            <a:cxnLst/>
            <a:rect l="l" t="t" r="r" b="b"/>
            <a:pathLst>
              <a:path w="7315200" h="1837944">
                <a:moveTo>
                  <a:pt x="0" y="0"/>
                </a:moveTo>
                <a:lnTo>
                  <a:pt x="7315200" y="0"/>
                </a:lnTo>
                <a:lnTo>
                  <a:pt x="7315200" y="1837944"/>
                </a:lnTo>
                <a:lnTo>
                  <a:pt x="0" y="18379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5871892" y="6073392"/>
            <a:ext cx="6544217" cy="1272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b="1">
                <a:solidFill>
                  <a:srgbClr val="000000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configuration de la connexion Laravel vers PostgreSQL et synchronisation des migrations.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668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400" y="210973"/>
            <a:ext cx="7117241" cy="1279796"/>
            <a:chOff x="0" y="0"/>
            <a:chExt cx="1874500" cy="3370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74500" cy="337066"/>
            </a:xfrm>
            <a:custGeom>
              <a:avLst/>
              <a:gdLst/>
              <a:ahLst/>
              <a:cxnLst/>
              <a:rect l="l" t="t" r="r" b="b"/>
              <a:pathLst>
                <a:path w="1874500" h="337066">
                  <a:moveTo>
                    <a:pt x="55476" y="0"/>
                  </a:moveTo>
                  <a:lnTo>
                    <a:pt x="1819023" y="0"/>
                  </a:lnTo>
                  <a:cubicBezTo>
                    <a:pt x="1849662" y="0"/>
                    <a:pt x="1874500" y="24838"/>
                    <a:pt x="1874500" y="55476"/>
                  </a:cubicBezTo>
                  <a:lnTo>
                    <a:pt x="1874500" y="281589"/>
                  </a:lnTo>
                  <a:cubicBezTo>
                    <a:pt x="1874500" y="296303"/>
                    <a:pt x="1868655" y="310413"/>
                    <a:pt x="1858251" y="320817"/>
                  </a:cubicBezTo>
                  <a:cubicBezTo>
                    <a:pt x="1847847" y="331221"/>
                    <a:pt x="1833737" y="337066"/>
                    <a:pt x="1819023" y="337066"/>
                  </a:cubicBezTo>
                  <a:lnTo>
                    <a:pt x="55476" y="337066"/>
                  </a:lnTo>
                  <a:cubicBezTo>
                    <a:pt x="24838" y="337066"/>
                    <a:pt x="0" y="312228"/>
                    <a:pt x="0" y="281589"/>
                  </a:cubicBezTo>
                  <a:lnTo>
                    <a:pt x="0" y="55476"/>
                  </a:lnTo>
                  <a:cubicBezTo>
                    <a:pt x="0" y="24838"/>
                    <a:pt x="24838" y="0"/>
                    <a:pt x="55476" y="0"/>
                  </a:cubicBezTo>
                  <a:close/>
                </a:path>
              </a:pathLst>
            </a:custGeom>
            <a:solidFill>
              <a:srgbClr val="94A83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874500" cy="3846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52400" y="497494"/>
            <a:ext cx="7117241" cy="601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b="1">
                <a:solidFill>
                  <a:srgbClr val="000000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7.Bilan &amp; améliorations possibles 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52400" y="1707087"/>
            <a:ext cx="6918988" cy="993431"/>
            <a:chOff x="0" y="0"/>
            <a:chExt cx="1822285" cy="26164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22285" cy="261644"/>
            </a:xfrm>
            <a:custGeom>
              <a:avLst/>
              <a:gdLst/>
              <a:ahLst/>
              <a:cxnLst/>
              <a:rect l="l" t="t" r="r" b="b"/>
              <a:pathLst>
                <a:path w="1822285" h="261644">
                  <a:moveTo>
                    <a:pt x="57066" y="0"/>
                  </a:moveTo>
                  <a:lnTo>
                    <a:pt x="1765219" y="0"/>
                  </a:lnTo>
                  <a:cubicBezTo>
                    <a:pt x="1780354" y="0"/>
                    <a:pt x="1794869" y="6012"/>
                    <a:pt x="1805571" y="16714"/>
                  </a:cubicBezTo>
                  <a:cubicBezTo>
                    <a:pt x="1816273" y="27416"/>
                    <a:pt x="1822285" y="41931"/>
                    <a:pt x="1822285" y="57066"/>
                  </a:cubicBezTo>
                  <a:lnTo>
                    <a:pt x="1822285" y="204579"/>
                  </a:lnTo>
                  <a:cubicBezTo>
                    <a:pt x="1822285" y="236095"/>
                    <a:pt x="1796736" y="261644"/>
                    <a:pt x="1765219" y="261644"/>
                  </a:cubicBezTo>
                  <a:lnTo>
                    <a:pt x="57066" y="261644"/>
                  </a:lnTo>
                  <a:cubicBezTo>
                    <a:pt x="41931" y="261644"/>
                    <a:pt x="27416" y="255632"/>
                    <a:pt x="16714" y="244930"/>
                  </a:cubicBezTo>
                  <a:cubicBezTo>
                    <a:pt x="6012" y="234228"/>
                    <a:pt x="0" y="219713"/>
                    <a:pt x="0" y="204579"/>
                  </a:cubicBezTo>
                  <a:lnTo>
                    <a:pt x="0" y="57066"/>
                  </a:lnTo>
                  <a:cubicBezTo>
                    <a:pt x="0" y="41931"/>
                    <a:pt x="6012" y="27416"/>
                    <a:pt x="16714" y="16714"/>
                  </a:cubicBezTo>
                  <a:cubicBezTo>
                    <a:pt x="27416" y="6012"/>
                    <a:pt x="41931" y="0"/>
                    <a:pt x="57066" y="0"/>
                  </a:cubicBezTo>
                  <a:close/>
                </a:path>
              </a:pathLst>
            </a:custGeom>
            <a:solidFill>
              <a:srgbClr val="94A83A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822285" cy="3092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52400" y="1921227"/>
            <a:ext cx="6918988" cy="519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Ce qui a été réussi (objectifs atteints)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0" y="2852918"/>
            <a:ext cx="15319699" cy="2491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4288" lvl="1" indent="-242144" algn="l">
              <a:lnSpc>
                <a:spcPts val="3140"/>
              </a:lnSpc>
              <a:buFont typeface="Arial"/>
              <a:buChar char="•"/>
            </a:pPr>
            <a:r>
              <a:rPr lang="en-US" sz="2243" b="1">
                <a:solidFill>
                  <a:srgbClr val="000000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Développement d’une plateforme web dédiée à l’investissement immobilier au Maroc.</a:t>
            </a:r>
          </a:p>
          <a:p>
            <a:pPr marL="515301" lvl="1" indent="-257650" algn="l">
              <a:lnSpc>
                <a:spcPts val="3341"/>
              </a:lnSpc>
              <a:buFont typeface="Arial"/>
              <a:buChar char="•"/>
            </a:pPr>
            <a:r>
              <a:rPr lang="en-US" sz="2386" b="1">
                <a:solidFill>
                  <a:srgbClr val="000000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Centralisation des informations et des projets immobiliers au sein d’une seule plateforme.</a:t>
            </a:r>
          </a:p>
          <a:p>
            <a:pPr marL="515301" lvl="1" indent="-257650" algn="l">
              <a:lnSpc>
                <a:spcPts val="3341"/>
              </a:lnSpc>
              <a:buFont typeface="Arial"/>
              <a:buChar char="•"/>
            </a:pPr>
            <a:r>
              <a:rPr lang="en-US" sz="2386" b="1">
                <a:solidFill>
                  <a:srgbClr val="000000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Mise en relation entre les investisseurs et les professionnels du secteur.</a:t>
            </a:r>
          </a:p>
          <a:p>
            <a:pPr marL="515301" lvl="1" indent="-257650" algn="l">
              <a:lnSpc>
                <a:spcPts val="3341"/>
              </a:lnSpc>
              <a:buFont typeface="Arial"/>
              <a:buChar char="•"/>
            </a:pPr>
            <a:r>
              <a:rPr lang="en-US" sz="2386" b="1">
                <a:solidFill>
                  <a:srgbClr val="000000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Création d’une interface moderne, intuitive et responsive.</a:t>
            </a:r>
          </a:p>
          <a:p>
            <a:pPr marL="515301" lvl="1" indent="-257650" algn="l">
              <a:lnSpc>
                <a:spcPts val="3341"/>
              </a:lnSpc>
              <a:buFont typeface="Arial"/>
              <a:buChar char="•"/>
            </a:pPr>
            <a:r>
              <a:rPr lang="en-US" sz="2386" b="1">
                <a:solidFill>
                  <a:srgbClr val="000000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Mise en place d’un système de gestion des utilisateurs, projets et simulations.</a:t>
            </a:r>
          </a:p>
          <a:p>
            <a:pPr algn="l">
              <a:lnSpc>
                <a:spcPts val="3073"/>
              </a:lnSpc>
            </a:pPr>
            <a:endParaRPr lang="en-US" sz="2386" b="1">
              <a:solidFill>
                <a:srgbClr val="000000"/>
              </a:solidFill>
              <a:latin typeface="Telegraf Medium"/>
              <a:ea typeface="Telegraf Medium"/>
              <a:cs typeface="Telegraf Medium"/>
              <a:sym typeface="Telegraf Medium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152400" y="5143500"/>
            <a:ext cx="6918988" cy="749295"/>
            <a:chOff x="0" y="0"/>
            <a:chExt cx="1822285" cy="19734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22285" cy="197345"/>
            </a:xfrm>
            <a:custGeom>
              <a:avLst/>
              <a:gdLst/>
              <a:ahLst/>
              <a:cxnLst/>
              <a:rect l="l" t="t" r="r" b="b"/>
              <a:pathLst>
                <a:path w="1822285" h="197345">
                  <a:moveTo>
                    <a:pt x="57066" y="0"/>
                  </a:moveTo>
                  <a:lnTo>
                    <a:pt x="1765219" y="0"/>
                  </a:lnTo>
                  <a:cubicBezTo>
                    <a:pt x="1780354" y="0"/>
                    <a:pt x="1794869" y="6012"/>
                    <a:pt x="1805571" y="16714"/>
                  </a:cubicBezTo>
                  <a:cubicBezTo>
                    <a:pt x="1816273" y="27416"/>
                    <a:pt x="1822285" y="41931"/>
                    <a:pt x="1822285" y="57066"/>
                  </a:cubicBezTo>
                  <a:lnTo>
                    <a:pt x="1822285" y="140279"/>
                  </a:lnTo>
                  <a:cubicBezTo>
                    <a:pt x="1822285" y="155414"/>
                    <a:pt x="1816273" y="169929"/>
                    <a:pt x="1805571" y="180631"/>
                  </a:cubicBezTo>
                  <a:cubicBezTo>
                    <a:pt x="1794869" y="191333"/>
                    <a:pt x="1780354" y="197345"/>
                    <a:pt x="1765219" y="197345"/>
                  </a:cubicBezTo>
                  <a:lnTo>
                    <a:pt x="57066" y="197345"/>
                  </a:lnTo>
                  <a:cubicBezTo>
                    <a:pt x="41931" y="197345"/>
                    <a:pt x="27416" y="191333"/>
                    <a:pt x="16714" y="180631"/>
                  </a:cubicBezTo>
                  <a:cubicBezTo>
                    <a:pt x="6012" y="169929"/>
                    <a:pt x="0" y="155414"/>
                    <a:pt x="0" y="140279"/>
                  </a:cubicBezTo>
                  <a:lnTo>
                    <a:pt x="0" y="57066"/>
                  </a:lnTo>
                  <a:cubicBezTo>
                    <a:pt x="0" y="41931"/>
                    <a:pt x="6012" y="27416"/>
                    <a:pt x="16714" y="16714"/>
                  </a:cubicBezTo>
                  <a:cubicBezTo>
                    <a:pt x="27416" y="6012"/>
                    <a:pt x="41931" y="0"/>
                    <a:pt x="57066" y="0"/>
                  </a:cubicBezTo>
                  <a:close/>
                </a:path>
              </a:pathLst>
            </a:custGeom>
            <a:solidFill>
              <a:srgbClr val="94A83A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822285" cy="2449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0" y="5198880"/>
            <a:ext cx="6918988" cy="519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Améliorations possibles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-113037" y="6035670"/>
            <a:ext cx="14368851" cy="2247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4230" lvl="1" indent="-227115" algn="l">
              <a:lnSpc>
                <a:spcPts val="2945"/>
              </a:lnSpc>
              <a:buFont typeface="Arial"/>
              <a:buChar char="•"/>
            </a:pPr>
            <a:r>
              <a:rPr lang="en-US" sz="2103" b="1">
                <a:solidFill>
                  <a:srgbClr val="000000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Ajouter des filtres de recherche plus avancés.</a:t>
            </a:r>
          </a:p>
          <a:p>
            <a:pPr marL="454230" lvl="1" indent="-227115" algn="l">
              <a:lnSpc>
                <a:spcPts val="2945"/>
              </a:lnSpc>
              <a:buFont typeface="Arial"/>
              <a:buChar char="•"/>
            </a:pPr>
            <a:r>
              <a:rPr lang="en-US" sz="2103" b="1">
                <a:solidFill>
                  <a:srgbClr val="000000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Intégrer une messagerie instantanée entre investisseurs et professionnels.</a:t>
            </a:r>
          </a:p>
          <a:p>
            <a:pPr marL="454230" lvl="1" indent="-227115" algn="l">
              <a:lnSpc>
                <a:spcPts val="2945"/>
              </a:lnSpc>
              <a:buFont typeface="Arial"/>
              <a:buChar char="•"/>
            </a:pPr>
            <a:r>
              <a:rPr lang="en-US" sz="2103" b="1">
                <a:solidFill>
                  <a:srgbClr val="000000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Ajouter un système de notification en temps réel.</a:t>
            </a:r>
          </a:p>
          <a:p>
            <a:pPr marL="454230" lvl="1" indent="-227115" algn="l">
              <a:lnSpc>
                <a:spcPts val="2945"/>
              </a:lnSpc>
              <a:buFont typeface="Arial"/>
              <a:buChar char="•"/>
            </a:pPr>
            <a:r>
              <a:rPr lang="en-US" sz="2103" b="1">
                <a:solidFill>
                  <a:srgbClr val="000000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Développer une application mobile.</a:t>
            </a:r>
          </a:p>
          <a:p>
            <a:pPr marL="454230" lvl="1" indent="-227115" algn="l">
              <a:lnSpc>
                <a:spcPts val="2945"/>
              </a:lnSpc>
              <a:buFont typeface="Arial"/>
              <a:buChar char="•"/>
            </a:pPr>
            <a:r>
              <a:rPr lang="en-US" sz="2103" b="1">
                <a:solidFill>
                  <a:srgbClr val="000000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Intégrer des cartes interactives et davantage d’outils d’analyse d’investissement.</a:t>
            </a:r>
          </a:p>
          <a:p>
            <a:pPr algn="l">
              <a:lnSpc>
                <a:spcPts val="2882"/>
              </a:lnSpc>
            </a:pPr>
            <a:endParaRPr lang="en-US" sz="2103" b="1">
              <a:solidFill>
                <a:srgbClr val="000000"/>
              </a:solidFill>
              <a:latin typeface="Telegraf Medium"/>
              <a:ea typeface="Telegraf Medium"/>
              <a:cs typeface="Telegraf Medium"/>
              <a:sym typeface="Telegraf Medium"/>
            </a:endParaRPr>
          </a:p>
        </p:txBody>
      </p:sp>
      <p:grpSp>
        <p:nvGrpSpPr>
          <p:cNvPr id="16" name="Group 16"/>
          <p:cNvGrpSpPr/>
          <p:nvPr/>
        </p:nvGrpSpPr>
        <p:grpSpPr>
          <a:xfrm>
            <a:off x="638815" y="8764375"/>
            <a:ext cx="5641359" cy="771914"/>
            <a:chOff x="0" y="0"/>
            <a:chExt cx="1485790" cy="20330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485790" cy="203302"/>
            </a:xfrm>
            <a:custGeom>
              <a:avLst/>
              <a:gdLst/>
              <a:ahLst/>
              <a:cxnLst/>
              <a:rect l="l" t="t" r="r" b="b"/>
              <a:pathLst>
                <a:path w="1485790" h="203302">
                  <a:moveTo>
                    <a:pt x="69990" y="0"/>
                  </a:moveTo>
                  <a:lnTo>
                    <a:pt x="1415800" y="0"/>
                  </a:lnTo>
                  <a:cubicBezTo>
                    <a:pt x="1454455" y="0"/>
                    <a:pt x="1485790" y="31336"/>
                    <a:pt x="1485790" y="69990"/>
                  </a:cubicBezTo>
                  <a:lnTo>
                    <a:pt x="1485790" y="133313"/>
                  </a:lnTo>
                  <a:cubicBezTo>
                    <a:pt x="1485790" y="171967"/>
                    <a:pt x="1454455" y="203302"/>
                    <a:pt x="1415800" y="203302"/>
                  </a:cubicBezTo>
                  <a:lnTo>
                    <a:pt x="69990" y="203302"/>
                  </a:lnTo>
                  <a:cubicBezTo>
                    <a:pt x="31336" y="203302"/>
                    <a:pt x="0" y="171967"/>
                    <a:pt x="0" y="133313"/>
                  </a:cubicBezTo>
                  <a:lnTo>
                    <a:pt x="0" y="69990"/>
                  </a:lnTo>
                  <a:cubicBezTo>
                    <a:pt x="0" y="31336"/>
                    <a:pt x="31336" y="0"/>
                    <a:pt x="69990" y="0"/>
                  </a:cubicBezTo>
                  <a:close/>
                </a:path>
              </a:pathLst>
            </a:custGeom>
            <a:solidFill>
              <a:srgbClr val="94A83A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1485790" cy="2509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-113037" y="8842992"/>
            <a:ext cx="6918988" cy="519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Compétences développées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280174" y="8308627"/>
            <a:ext cx="11685342" cy="2077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4168" lvl="1" indent="-217084" algn="l">
              <a:lnSpc>
                <a:spcPts val="2815"/>
              </a:lnSpc>
              <a:buFont typeface="Arial"/>
              <a:buChar char="•"/>
            </a:pPr>
            <a:r>
              <a:rPr lang="en-US" sz="2010" b="1">
                <a:solidFill>
                  <a:srgbClr val="000000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Développement Front-end avec HTML, CSS, Tailwind CSS et TypeScript.</a:t>
            </a:r>
          </a:p>
          <a:p>
            <a:pPr marL="434168" lvl="1" indent="-217084" algn="l">
              <a:lnSpc>
                <a:spcPts val="2815"/>
              </a:lnSpc>
              <a:buFont typeface="Arial"/>
              <a:buChar char="•"/>
            </a:pPr>
            <a:r>
              <a:rPr lang="en-US" sz="2010" b="1">
                <a:solidFill>
                  <a:srgbClr val="000000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Développement Back-end avec Laravel.</a:t>
            </a:r>
          </a:p>
          <a:p>
            <a:pPr marL="434168" lvl="1" indent="-217084" algn="l">
              <a:lnSpc>
                <a:spcPts val="2815"/>
              </a:lnSpc>
              <a:buFont typeface="Arial"/>
              <a:buChar char="•"/>
            </a:pPr>
            <a:r>
              <a:rPr lang="en-US" sz="2010" b="1">
                <a:solidFill>
                  <a:srgbClr val="000000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Gestion de bases de données PostgreSQL.</a:t>
            </a:r>
          </a:p>
          <a:p>
            <a:pPr marL="434168" lvl="1" indent="-217084" algn="l">
              <a:lnSpc>
                <a:spcPts val="2815"/>
              </a:lnSpc>
              <a:buFont typeface="Arial"/>
              <a:buChar char="•"/>
            </a:pPr>
            <a:r>
              <a:rPr lang="en-US" sz="2010" b="1">
                <a:solidFill>
                  <a:srgbClr val="000000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Conception UML (diagrammes de cas d’utilisation et diagrammes de classes).</a:t>
            </a:r>
          </a:p>
          <a:p>
            <a:pPr marL="434168" lvl="1" indent="-217084" algn="l">
              <a:lnSpc>
                <a:spcPts val="2815"/>
              </a:lnSpc>
              <a:buFont typeface="Arial"/>
              <a:buChar char="•"/>
            </a:pPr>
            <a:r>
              <a:rPr lang="en-US" sz="2010" b="1">
                <a:solidFill>
                  <a:srgbClr val="000000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Gestion de projet et organisation du développement.</a:t>
            </a:r>
          </a:p>
          <a:p>
            <a:pPr algn="l">
              <a:lnSpc>
                <a:spcPts val="2344"/>
              </a:lnSpc>
            </a:pPr>
            <a:endParaRPr lang="en-US" sz="2010" b="1">
              <a:solidFill>
                <a:srgbClr val="000000"/>
              </a:solidFill>
              <a:latin typeface="Telegraf Medium"/>
              <a:ea typeface="Telegraf Medium"/>
              <a:cs typeface="Telegraf Medium"/>
              <a:sym typeface="Telegraf Medium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668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284946" y="388802"/>
            <a:ext cx="7117241" cy="1279796"/>
            <a:chOff x="0" y="0"/>
            <a:chExt cx="1874500" cy="3370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74500" cy="337066"/>
            </a:xfrm>
            <a:custGeom>
              <a:avLst/>
              <a:gdLst/>
              <a:ahLst/>
              <a:cxnLst/>
              <a:rect l="l" t="t" r="r" b="b"/>
              <a:pathLst>
                <a:path w="1874500" h="337066">
                  <a:moveTo>
                    <a:pt x="55476" y="0"/>
                  </a:moveTo>
                  <a:lnTo>
                    <a:pt x="1819023" y="0"/>
                  </a:lnTo>
                  <a:cubicBezTo>
                    <a:pt x="1849662" y="0"/>
                    <a:pt x="1874500" y="24838"/>
                    <a:pt x="1874500" y="55476"/>
                  </a:cubicBezTo>
                  <a:lnTo>
                    <a:pt x="1874500" y="281589"/>
                  </a:lnTo>
                  <a:cubicBezTo>
                    <a:pt x="1874500" y="296303"/>
                    <a:pt x="1868655" y="310413"/>
                    <a:pt x="1858251" y="320817"/>
                  </a:cubicBezTo>
                  <a:cubicBezTo>
                    <a:pt x="1847847" y="331221"/>
                    <a:pt x="1833737" y="337066"/>
                    <a:pt x="1819023" y="337066"/>
                  </a:cubicBezTo>
                  <a:lnTo>
                    <a:pt x="55476" y="337066"/>
                  </a:lnTo>
                  <a:cubicBezTo>
                    <a:pt x="24838" y="337066"/>
                    <a:pt x="0" y="312228"/>
                    <a:pt x="0" y="281589"/>
                  </a:cubicBezTo>
                  <a:lnTo>
                    <a:pt x="0" y="55476"/>
                  </a:lnTo>
                  <a:cubicBezTo>
                    <a:pt x="0" y="24838"/>
                    <a:pt x="24838" y="0"/>
                    <a:pt x="55476" y="0"/>
                  </a:cubicBezTo>
                  <a:close/>
                </a:path>
              </a:pathLst>
            </a:custGeom>
            <a:solidFill>
              <a:srgbClr val="94A83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874500" cy="3846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323975" y="72705"/>
            <a:ext cx="1911991" cy="1911991"/>
          </a:xfrm>
          <a:custGeom>
            <a:avLst/>
            <a:gdLst/>
            <a:ahLst/>
            <a:cxnLst/>
            <a:rect l="l" t="t" r="r" b="b"/>
            <a:pathLst>
              <a:path w="1911991" h="1911991">
                <a:moveTo>
                  <a:pt x="0" y="0"/>
                </a:moveTo>
                <a:lnTo>
                  <a:pt x="1911991" y="0"/>
                </a:lnTo>
                <a:lnTo>
                  <a:pt x="1911991" y="1911990"/>
                </a:lnTo>
                <a:lnTo>
                  <a:pt x="0" y="19119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160378" y="0"/>
            <a:ext cx="1911991" cy="1911991"/>
          </a:xfrm>
          <a:custGeom>
            <a:avLst/>
            <a:gdLst/>
            <a:ahLst/>
            <a:cxnLst/>
            <a:rect l="l" t="t" r="r" b="b"/>
            <a:pathLst>
              <a:path w="1911991" h="1911991">
                <a:moveTo>
                  <a:pt x="0" y="0"/>
                </a:moveTo>
                <a:lnTo>
                  <a:pt x="1911991" y="0"/>
                </a:lnTo>
                <a:lnTo>
                  <a:pt x="1911991" y="1911991"/>
                </a:lnTo>
                <a:lnTo>
                  <a:pt x="0" y="19119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5284946" y="3863704"/>
            <a:ext cx="7117241" cy="1279796"/>
            <a:chOff x="0" y="0"/>
            <a:chExt cx="1874500" cy="33706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874500" cy="337066"/>
            </a:xfrm>
            <a:custGeom>
              <a:avLst/>
              <a:gdLst/>
              <a:ahLst/>
              <a:cxnLst/>
              <a:rect l="l" t="t" r="r" b="b"/>
              <a:pathLst>
                <a:path w="1874500" h="337066">
                  <a:moveTo>
                    <a:pt x="55476" y="0"/>
                  </a:moveTo>
                  <a:lnTo>
                    <a:pt x="1819023" y="0"/>
                  </a:lnTo>
                  <a:cubicBezTo>
                    <a:pt x="1849662" y="0"/>
                    <a:pt x="1874500" y="24838"/>
                    <a:pt x="1874500" y="55476"/>
                  </a:cubicBezTo>
                  <a:lnTo>
                    <a:pt x="1874500" y="281589"/>
                  </a:lnTo>
                  <a:cubicBezTo>
                    <a:pt x="1874500" y="296303"/>
                    <a:pt x="1868655" y="310413"/>
                    <a:pt x="1858251" y="320817"/>
                  </a:cubicBezTo>
                  <a:cubicBezTo>
                    <a:pt x="1847847" y="331221"/>
                    <a:pt x="1833737" y="337066"/>
                    <a:pt x="1819023" y="337066"/>
                  </a:cubicBezTo>
                  <a:lnTo>
                    <a:pt x="55476" y="337066"/>
                  </a:lnTo>
                  <a:cubicBezTo>
                    <a:pt x="24838" y="337066"/>
                    <a:pt x="0" y="312228"/>
                    <a:pt x="0" y="281589"/>
                  </a:cubicBezTo>
                  <a:lnTo>
                    <a:pt x="0" y="55476"/>
                  </a:lnTo>
                  <a:cubicBezTo>
                    <a:pt x="0" y="24838"/>
                    <a:pt x="24838" y="0"/>
                    <a:pt x="55476" y="0"/>
                  </a:cubicBezTo>
                  <a:close/>
                </a:path>
              </a:pathLst>
            </a:custGeom>
            <a:solidFill>
              <a:srgbClr val="94A83A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1874500" cy="3846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09600" y="7773670"/>
            <a:ext cx="7315200" cy="2029968"/>
          </a:xfrm>
          <a:custGeom>
            <a:avLst/>
            <a:gdLst/>
            <a:ahLst/>
            <a:cxnLst/>
            <a:rect l="l" t="t" r="r" b="b"/>
            <a:pathLst>
              <a:path w="7315200" h="2029968">
                <a:moveTo>
                  <a:pt x="0" y="0"/>
                </a:moveTo>
                <a:lnTo>
                  <a:pt x="7315200" y="0"/>
                </a:lnTo>
                <a:lnTo>
                  <a:pt x="7315200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6324601" y="342906"/>
            <a:ext cx="5090994" cy="11430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485"/>
              </a:lnSpc>
              <a:spcBef>
                <a:spcPct val="0"/>
              </a:spcBef>
            </a:pPr>
            <a:r>
              <a:rPr lang="en-US" sz="6775" b="1" dirty="0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Conclusion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55352" y="1887602"/>
            <a:ext cx="16577295" cy="1441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• Ce </a:t>
            </a:r>
            <a:r>
              <a:rPr lang="en-US" sz="2400" b="1" dirty="0" err="1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projet</a:t>
            </a:r>
            <a:r>
              <a:rPr lang="en-US" sz="2400" b="1" dirty="0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 nous a </a:t>
            </a:r>
            <a:r>
              <a:rPr lang="en-US" sz="2400" b="1" dirty="0" err="1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permis</a:t>
            </a:r>
            <a:r>
              <a:rPr lang="en-US" sz="2400" b="1" dirty="0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 de </a:t>
            </a:r>
            <a:r>
              <a:rPr lang="en-US" sz="2400" b="1" dirty="0" err="1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mieux</a:t>
            </a:r>
            <a:r>
              <a:rPr lang="en-US" sz="2400" b="1" dirty="0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comprendre</a:t>
            </a:r>
            <a:r>
              <a:rPr lang="en-US" sz="2400" b="1" dirty="0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 la conception et le </a:t>
            </a:r>
            <a:r>
              <a:rPr lang="en-US" sz="2400" b="1" dirty="0" err="1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développement</a:t>
            </a:r>
            <a:r>
              <a:rPr lang="en-US" sz="2400" b="1" dirty="0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d’une</a:t>
            </a:r>
            <a:r>
              <a:rPr lang="en-US" sz="2400" b="1" dirty="0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plateforme</a:t>
            </a:r>
            <a:r>
              <a:rPr lang="en-US" sz="2400" b="1" dirty="0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immobilière</a:t>
            </a:r>
            <a:r>
              <a:rPr lang="en-US" sz="2400" b="1" dirty="0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.</a:t>
            </a:r>
          </a:p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 • Il nous a </a:t>
            </a:r>
            <a:r>
              <a:rPr lang="en-US" sz="2400" b="1" dirty="0" err="1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aidés</a:t>
            </a:r>
            <a:r>
              <a:rPr lang="en-US" sz="2400" b="1" dirty="0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 à appliquer </a:t>
            </a:r>
            <a:r>
              <a:rPr lang="en-US" sz="2400" b="1" dirty="0" err="1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nos</a:t>
            </a:r>
            <a:r>
              <a:rPr lang="en-US" sz="2400" b="1" dirty="0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connaissances</a:t>
            </a:r>
            <a:r>
              <a:rPr lang="en-US" sz="2400" b="1" dirty="0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en</a:t>
            </a:r>
            <a:r>
              <a:rPr lang="en-US" sz="2400" b="1" dirty="0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développement</a:t>
            </a:r>
            <a:r>
              <a:rPr lang="en-US" sz="2400" b="1" dirty="0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 web et </a:t>
            </a:r>
            <a:r>
              <a:rPr lang="en-US" sz="2400" b="1" dirty="0" err="1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en</a:t>
            </a:r>
            <a:r>
              <a:rPr lang="en-US" sz="2400" b="1" dirty="0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 gestion de </a:t>
            </a:r>
            <a:r>
              <a:rPr lang="en-US" sz="2400" b="1" dirty="0" err="1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projet</a:t>
            </a:r>
            <a:r>
              <a:rPr lang="en-US" sz="2400" b="1" dirty="0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.</a:t>
            </a:r>
          </a:p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 • Ce travail </a:t>
            </a:r>
            <a:r>
              <a:rPr lang="en-US" sz="2400" b="1" dirty="0" err="1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représente</a:t>
            </a:r>
            <a:r>
              <a:rPr lang="en-US" sz="2400" b="1" dirty="0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une</a:t>
            </a:r>
            <a:r>
              <a:rPr lang="en-US" sz="2400" b="1" dirty="0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 étape </a:t>
            </a:r>
            <a:r>
              <a:rPr lang="en-US" sz="2400" b="1" dirty="0" err="1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importante</a:t>
            </a:r>
            <a:r>
              <a:rPr lang="en-US" sz="2400" b="1" dirty="0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 dans </a:t>
            </a:r>
            <a:r>
              <a:rPr lang="en-US" sz="2400" b="1" dirty="0" err="1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notre</a:t>
            </a:r>
            <a:r>
              <a:rPr lang="en-US" sz="2400" b="1" dirty="0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apprentissage</a:t>
            </a:r>
            <a:r>
              <a:rPr lang="en-US" sz="2400" b="1" dirty="0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.</a:t>
            </a:r>
          </a:p>
          <a:p>
            <a:pPr algn="ctr">
              <a:lnSpc>
                <a:spcPts val="1120"/>
              </a:lnSpc>
              <a:spcBef>
                <a:spcPct val="0"/>
              </a:spcBef>
            </a:pPr>
            <a:endParaRPr lang="en-US" sz="2400" b="1" dirty="0">
              <a:solidFill>
                <a:srgbClr val="FFFFFF"/>
              </a:solidFill>
              <a:latin typeface="Telegraf Medium"/>
              <a:ea typeface="Telegraf Medium"/>
              <a:cs typeface="Telegraf Medium"/>
              <a:sym typeface="Telegraf Medium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5585379" y="3988298"/>
            <a:ext cx="7117241" cy="878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799" b="1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Remerciements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23975" y="5486400"/>
            <a:ext cx="17358360" cy="1713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endParaRPr dirty="0"/>
          </a:p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 b="1" dirty="0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Nous tenons à </a:t>
            </a:r>
            <a:r>
              <a:rPr lang="en-US" sz="2699" b="1" dirty="0" err="1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remercier</a:t>
            </a:r>
            <a:r>
              <a:rPr lang="en-US" sz="2699" b="1" dirty="0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 </a:t>
            </a:r>
            <a:r>
              <a:rPr lang="en-US" sz="2699" b="1" dirty="0" err="1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sincèrement</a:t>
            </a:r>
            <a:r>
              <a:rPr lang="en-US" sz="2699" b="1" dirty="0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 :</a:t>
            </a:r>
          </a:p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 b="1" dirty="0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 • Nos </a:t>
            </a:r>
            <a:r>
              <a:rPr lang="en-US" sz="2699" b="1" dirty="0" err="1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professeurs</a:t>
            </a:r>
            <a:r>
              <a:rPr lang="en-US" sz="2699" b="1" dirty="0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 pour </a:t>
            </a:r>
            <a:r>
              <a:rPr lang="en-US" sz="2699" b="1" dirty="0" err="1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leur</a:t>
            </a:r>
            <a:r>
              <a:rPr lang="en-US" sz="2699" b="1" dirty="0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 </a:t>
            </a:r>
            <a:r>
              <a:rPr lang="en-US" sz="2699" b="1" dirty="0" err="1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encadrement</a:t>
            </a:r>
            <a:r>
              <a:rPr lang="en-US" sz="2699" b="1" dirty="0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, </a:t>
            </a:r>
            <a:r>
              <a:rPr lang="en-US" sz="2699" b="1" dirty="0" err="1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leurs</a:t>
            </a:r>
            <a:r>
              <a:rPr lang="en-US" sz="2699" b="1" dirty="0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 conseils et </a:t>
            </a:r>
            <a:r>
              <a:rPr lang="en-US" sz="2699" b="1" dirty="0" err="1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leur</a:t>
            </a:r>
            <a:r>
              <a:rPr lang="en-US" sz="2699" b="1" dirty="0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 </a:t>
            </a:r>
            <a:r>
              <a:rPr lang="en-US" sz="2699" b="1" dirty="0" err="1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soutien</a:t>
            </a:r>
            <a:r>
              <a:rPr lang="en-US" sz="2699" b="1" dirty="0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 tout au long du </a:t>
            </a:r>
            <a:r>
              <a:rPr lang="en-US" sz="2699" b="1" dirty="0" err="1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projet</a:t>
            </a:r>
            <a:r>
              <a:rPr lang="en-US" sz="2699" b="1" dirty="0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.</a:t>
            </a:r>
          </a:p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 b="1" dirty="0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 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B32BACA8-7CF9-9ECF-E917-49B724CF1671}"/>
              </a:ext>
            </a:extLst>
          </p:cNvPr>
          <p:cNvSpPr txBox="1"/>
          <p:nvPr/>
        </p:nvSpPr>
        <p:spPr>
          <a:xfrm>
            <a:off x="8610600" y="7955366"/>
            <a:ext cx="868679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/>
              <a:t>Lien de </a:t>
            </a:r>
            <a:r>
              <a:rPr lang="fr-FR" sz="4400" dirty="0" err="1"/>
              <a:t>github</a:t>
            </a:r>
            <a:r>
              <a:rPr lang="fr-FR" sz="4400" dirty="0"/>
              <a:t>:</a:t>
            </a:r>
            <a:r>
              <a:rPr lang="fr-MA" sz="4400" dirty="0" err="1">
                <a:hlinkClick r:id="rId6"/>
              </a:rPr>
              <a:t>soufianeaayouni</a:t>
            </a:r>
            <a:r>
              <a:rPr lang="fr-MA" sz="4400" dirty="0">
                <a:hlinkClick r:id="rId6"/>
              </a:rPr>
              <a:t>/pfe_InvestAqary_N1: projet de fin d </a:t>
            </a:r>
            <a:r>
              <a:rPr lang="fr-MA" sz="4400" dirty="0" err="1">
                <a:hlinkClick r:id="rId6"/>
              </a:rPr>
              <a:t>etude</a:t>
            </a:r>
            <a:endParaRPr lang="fr-MA" sz="4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735</Words>
  <Application>Microsoft Office PowerPoint</Application>
  <PresentationFormat>Personnalisé</PresentationFormat>
  <Paragraphs>105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22" baseType="lpstr">
      <vt:lpstr>Barlow Bold Italics</vt:lpstr>
      <vt:lpstr>Barlow</vt:lpstr>
      <vt:lpstr>Telegraf</vt:lpstr>
      <vt:lpstr>Arial</vt:lpstr>
      <vt:lpstr>Telegraf Medium</vt:lpstr>
      <vt:lpstr>Calibri</vt:lpstr>
      <vt:lpstr>Segoe WPC</vt:lpstr>
      <vt:lpstr>Telegraf Bold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Estate Presentation</dc:title>
  <cp:lastModifiedBy>AAYOUNI SOFYANE</cp:lastModifiedBy>
  <cp:revision>3</cp:revision>
  <dcterms:created xsi:type="dcterms:W3CDTF">2006-08-16T00:00:00Z</dcterms:created>
  <dcterms:modified xsi:type="dcterms:W3CDTF">2026-06-09T20:02:55Z</dcterms:modified>
  <dc:identifier>DAHL7NhYqL8</dc:identifier>
</cp:coreProperties>
</file>